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Comforta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8086D4-13D2-4175-8E7E-E5CDEFF0DE39}">
  <a:tblStyle styleId="{B48086D4-13D2-4175-8E7E-E5CDEFF0DE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omfortaa-bold.fntdata"/><Relationship Id="rId25" Type="http://schemas.openxmlformats.org/officeDocument/2006/relationships/font" Target="fonts/Comforta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10ea802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10ea802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710ea802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710ea80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710ea802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710ea802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710ea802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710ea802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710ea802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710ea802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710ea802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710ea802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710ea802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710ea802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710ea802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710ea802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710ea802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710ea802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710ea802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710ea802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710ea802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710ea802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710ea802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c710ea802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710ea802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710ea802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710ea802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c710ea802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710ea802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710ea802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71cf0fe7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c71cf0fe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710ea802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710ea802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0" y="424625"/>
            <a:ext cx="8520600" cy="9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Summarizer #44</a:t>
            </a:r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850" y="1464425"/>
            <a:ext cx="6616297" cy="25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42450" y="4573675"/>
            <a:ext cx="157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12 </a:t>
            </a:r>
            <a:r>
              <a:rPr lang="en">
                <a:solidFill>
                  <a:schemeClr val="dk1"/>
                </a:solidFill>
              </a:rPr>
              <a:t>March 2021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3600" y="981075"/>
            <a:ext cx="521970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5585875" y="1492075"/>
            <a:ext cx="45000" cy="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202400" y="1492075"/>
            <a:ext cx="380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ach table should have a unique name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255"/>
              <a:t>Database </a:t>
            </a:r>
            <a:r>
              <a:rPr lang="en" sz="2255"/>
              <a:t>R</a:t>
            </a:r>
            <a:r>
              <a:rPr lang="en" sz="2255"/>
              <a:t>elations (Tables)</a:t>
            </a:r>
            <a:endParaRPr sz="3355"/>
          </a:p>
        </p:txBody>
      </p:sp>
      <p:sp>
        <p:nvSpPr>
          <p:cNvPr id="69" name="Google Shape;69;p15"/>
          <p:cNvSpPr txBox="1"/>
          <p:nvPr/>
        </p:nvSpPr>
        <p:spPr>
          <a:xfrm>
            <a:off x="202400" y="1892275"/>
            <a:ext cx="404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Columns -&gt; </a:t>
            </a:r>
            <a:r>
              <a:rPr lang="en">
                <a:solidFill>
                  <a:schemeClr val="dk1"/>
                </a:solidFill>
              </a:rPr>
              <a:t>Fields or Attributes</a:t>
            </a:r>
            <a:endParaRPr sz="1700"/>
          </a:p>
        </p:txBody>
      </p:sp>
      <p:sp>
        <p:nvSpPr>
          <p:cNvPr id="70" name="Google Shape;70;p15"/>
          <p:cNvSpPr txBox="1"/>
          <p:nvPr/>
        </p:nvSpPr>
        <p:spPr>
          <a:xfrm>
            <a:off x="202400" y="2292475"/>
            <a:ext cx="43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-&gt; </a:t>
            </a:r>
            <a:r>
              <a:rPr lang="en"/>
              <a:t>Records or Tuples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255"/>
              <a:t>Attribute </a:t>
            </a:r>
            <a:r>
              <a:rPr lang="en" sz="2255"/>
              <a:t>D</a:t>
            </a:r>
            <a:r>
              <a:rPr lang="en" sz="2255"/>
              <a:t>ata </a:t>
            </a:r>
            <a:r>
              <a:rPr lang="en" sz="2255"/>
              <a:t>T</a:t>
            </a:r>
            <a:r>
              <a:rPr lang="en" sz="2255"/>
              <a:t>ype</a:t>
            </a:r>
            <a:endParaRPr sz="3355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077" y="237950"/>
            <a:ext cx="3684474" cy="468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table and c</a:t>
            </a:r>
            <a:r>
              <a:rPr lang="en"/>
              <a:t>onstraints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1497825" y="3297200"/>
            <a:ext cx="6219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CREATE TABLE cars (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id INTEGER NOT NULL UNIQUE AUTO INCREMENT,</a:t>
            </a:r>
            <a:br>
              <a:rPr lang="en" sz="13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	license_plate VARCHAR (16) NOT NULL UNIQUE,</a:t>
            </a:r>
            <a:br>
              <a:rPr lang="en" sz="13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	brand VARCHAR (16) NOT NULL,</a:t>
            </a:r>
            <a:br>
              <a:rPr lang="en" sz="13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	model VARCHAR (16) NOT NULL,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	DoM DATE NOT NULL</a:t>
            </a:r>
            <a:br>
              <a:rPr lang="en" sz="13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300">
                <a:latin typeface="Comfortaa"/>
                <a:ea typeface="Comfortaa"/>
                <a:cs typeface="Comfortaa"/>
                <a:sym typeface="Comfortaa"/>
              </a:rPr>
              <a:t>	);</a:t>
            </a:r>
            <a:endParaRPr sz="1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99925" y="450617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1497825" y="10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{B48086D4-13D2-4175-8E7E-E5CDEFF0DE39}</a:tableStyleId>
              </a:tblPr>
              <a:tblGrid>
                <a:gridCol w="2040000"/>
                <a:gridCol w="41083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Constraint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Meaning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Column will not hold null values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Column will not hold already existing values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AUTO_INCREMENT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Column will automatically increment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DEFAULT &lt;value&gt;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 the column's default value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Keys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1132175"/>
            <a:ext cx="43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Refers to specific table attributes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311700" y="1562375"/>
            <a:ext cx="43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sort and/or uniquely identify table records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11700" y="1992575"/>
            <a:ext cx="495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establish and identify relationships between tables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keys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1169675"/>
            <a:ext cx="7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table must have a primary key, a set of attributes that will uniquely identify a record.</a:t>
            </a:r>
            <a:endParaRPr/>
          </a:p>
        </p:txBody>
      </p:sp>
      <p:graphicFrame>
        <p:nvGraphicFramePr>
          <p:cNvPr id="99" name="Google Shape;99;p19"/>
          <p:cNvGraphicFramePr/>
          <p:nvPr/>
        </p:nvGraphicFramePr>
        <p:xfrm>
          <a:off x="952500" y="172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{B48086D4-13D2-4175-8E7E-E5CDEFF0DE39}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Room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Passport 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Speciality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Angel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112233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112567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Diamond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143563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127855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Crystal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175410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9"/>
          <p:cNvSpPr txBox="1"/>
          <p:nvPr/>
        </p:nvSpPr>
        <p:spPr>
          <a:xfrm>
            <a:off x="952500" y="4251025"/>
            <a:ext cx="43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the best primary key?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keys - Composite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311700" y="1169675"/>
            <a:ext cx="806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case there is no single attribute for a primary key, we can use a composite (several attributes)</a:t>
            </a:r>
            <a:endParaRPr/>
          </a:p>
        </p:txBody>
      </p:sp>
      <p:graphicFrame>
        <p:nvGraphicFramePr>
          <p:cNvPr id="107" name="Google Shape;107;p20"/>
          <p:cNvGraphicFramePr/>
          <p:nvPr/>
        </p:nvGraphicFramePr>
        <p:xfrm>
          <a:off x="952500" y="172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{B48086D4-13D2-4175-8E7E-E5CDEFF0DE39}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Room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r>
                        <a:rPr b="1" lang="en"/>
                        <a:t>peciality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Angel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Blonde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Redhead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Diamond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Brunette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Blonde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Crystal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Redhead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censored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" name="Google Shape;108;p20"/>
          <p:cNvSpPr txBox="1"/>
          <p:nvPr/>
        </p:nvSpPr>
        <p:spPr>
          <a:xfrm>
            <a:off x="952500" y="4251025"/>
            <a:ext cx="43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are the best primary key pair (trio…)?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82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Foreign keys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1207125"/>
            <a:ext cx="77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foreign key is an attribute on a table that points to a primary key in another table.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9725"/>
            <a:ext cx="85725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Cardinality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311700" y="1192200"/>
            <a:ext cx="61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Cardinality is the type of a relationship between two tables.</a:t>
            </a:r>
            <a:endParaRPr sz="1700"/>
          </a:p>
        </p:txBody>
      </p:sp>
      <p:sp>
        <p:nvSpPr>
          <p:cNvPr id="122" name="Google Shape;122;p22"/>
          <p:cNvSpPr txBox="1"/>
          <p:nvPr/>
        </p:nvSpPr>
        <p:spPr>
          <a:xfrm>
            <a:off x="406950" y="1766863"/>
            <a:ext cx="83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One to one: One person for one passport ID. 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406950" y="2167075"/>
            <a:ext cx="83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One to many: One airplane for many passengers.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406950" y="2567275"/>
            <a:ext cx="83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Many</a:t>
            </a:r>
            <a:r>
              <a:rPr lang="en"/>
              <a:t> to many: One teacher for many subjects and one subject for many teachers.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06950" y="2967475"/>
            <a:ext cx="833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Self-Referencing Relationship: One person is an employee which has a mentor. That mentor is also an employee.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00" y="3367675"/>
            <a:ext cx="1892850" cy="15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688" y="22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220"/>
              <a:t>A database </a:t>
            </a:r>
            <a:r>
              <a:rPr b="1" lang="en" sz="1220" u="sng"/>
              <a:t>schema</a:t>
            </a:r>
            <a:r>
              <a:rPr lang="en" sz="1220"/>
              <a:t> is a visual and logical architecture of a database created on a database management system.</a:t>
            </a:r>
            <a:endParaRPr sz="1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20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00" y="631825"/>
            <a:ext cx="6459873" cy="43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Changing the table schema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449875" y="1017725"/>
            <a:ext cx="2519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Remove columns:</a:t>
            </a:r>
            <a:br>
              <a:rPr lang="en"/>
            </a:br>
            <a:br>
              <a:rPr lang="en"/>
            </a:b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ALTER TABLE cars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DROP registration_plate;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3598200" y="1017725"/>
            <a:ext cx="554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Insert </a:t>
            </a:r>
            <a:r>
              <a:rPr b="1" lang="en" u="sng"/>
              <a:t>columns:</a:t>
            </a:r>
            <a:br>
              <a:rPr lang="en"/>
            </a:br>
            <a:br>
              <a:rPr lang="en"/>
            </a:b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ALTER TABLE cars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ADD registration_plate VARCHAR(16) UNIQUE NOT NULL;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 txBox="1"/>
          <p:nvPr/>
        </p:nvSpPr>
        <p:spPr>
          <a:xfrm>
            <a:off x="449875" y="2339325"/>
            <a:ext cx="251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Drop table</a:t>
            </a:r>
            <a:r>
              <a:rPr b="1" lang="en" u="sng"/>
              <a:t>:</a:t>
            </a:r>
            <a:br>
              <a:rPr lang="en"/>
            </a:br>
            <a:br>
              <a:rPr lang="en"/>
            </a:br>
            <a:r>
              <a:rPr lang="en">
                <a:latin typeface="Comfortaa"/>
                <a:ea typeface="Comfortaa"/>
                <a:cs typeface="Comfortaa"/>
                <a:sym typeface="Comfortaa"/>
              </a:rPr>
              <a:t>DROP TABLE cars;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24"/>
          <p:cNvGrpSpPr/>
          <p:nvPr/>
        </p:nvGrpSpPr>
        <p:grpSpPr>
          <a:xfrm>
            <a:off x="3688925" y="2339325"/>
            <a:ext cx="3951300" cy="2678425"/>
            <a:chOff x="3688925" y="2339325"/>
            <a:chExt cx="3951300" cy="2678425"/>
          </a:xfrm>
        </p:grpSpPr>
        <p:pic>
          <p:nvPicPr>
            <p:cNvPr id="142" name="Google Shape;142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7175" y="2339325"/>
              <a:ext cx="2709689" cy="2144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4"/>
            <p:cNvSpPr txBox="1"/>
            <p:nvPr/>
          </p:nvSpPr>
          <p:spPr>
            <a:xfrm>
              <a:off x="3688925" y="4402150"/>
              <a:ext cx="3951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Dropping a table by mistake in production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Query Language (SQL)</a:t>
            </a:r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311700" y="1204750"/>
            <a:ext cx="85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language designed for managing data held in a relational database management system.</a:t>
            </a:r>
            <a:endParaRPr/>
          </a:p>
        </p:txBody>
      </p:sp>
      <p:sp>
        <p:nvSpPr>
          <p:cNvPr id="150" name="Google Shape;150;p25"/>
          <p:cNvSpPr txBox="1"/>
          <p:nvPr/>
        </p:nvSpPr>
        <p:spPr>
          <a:xfrm>
            <a:off x="311700" y="1604950"/>
            <a:ext cx="85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Declarative language. We just tell what we what without the need to be describe each step.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Operations</a:t>
            </a:r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311700" y="1162150"/>
            <a:ext cx="77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SELECT, INSERT, DELETE and UPDATE</a:t>
            </a:r>
            <a:endParaRPr/>
          </a:p>
        </p:txBody>
      </p:sp>
      <p:sp>
        <p:nvSpPr>
          <p:cNvPr id="157" name="Google Shape;157;p26"/>
          <p:cNvSpPr txBox="1"/>
          <p:nvPr/>
        </p:nvSpPr>
        <p:spPr>
          <a:xfrm>
            <a:off x="355500" y="2753475"/>
            <a:ext cx="847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INTO </a:t>
            </a:r>
            <a:r>
              <a:rPr lang="en"/>
              <a:t>mytable</a:t>
            </a:r>
            <a:r>
              <a:rPr lang="en"/>
              <a:t>(</a:t>
            </a:r>
            <a:r>
              <a:rPr lang="en"/>
              <a:t>column1</a:t>
            </a:r>
            <a:r>
              <a:rPr lang="en"/>
              <a:t>, </a:t>
            </a:r>
            <a:r>
              <a:rPr lang="en"/>
              <a:t>column2</a:t>
            </a:r>
            <a:r>
              <a:rPr lang="en"/>
              <a:t>) VALUES (</a:t>
            </a:r>
            <a:r>
              <a:rPr lang="en"/>
              <a:t>column1_value</a:t>
            </a:r>
            <a:r>
              <a:rPr lang="en"/>
              <a:t>, </a:t>
            </a:r>
            <a:r>
              <a:rPr lang="en"/>
              <a:t>column2_value</a:t>
            </a:r>
            <a:r>
              <a:rPr lang="en"/>
              <a:t>);</a:t>
            </a:r>
            <a:endParaRPr/>
          </a:p>
        </p:txBody>
      </p:sp>
      <p:sp>
        <p:nvSpPr>
          <p:cNvPr id="158" name="Google Shape;158;p26"/>
          <p:cNvSpPr txBox="1"/>
          <p:nvPr/>
        </p:nvSpPr>
        <p:spPr>
          <a:xfrm>
            <a:off x="355500" y="2353275"/>
            <a:ext cx="847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column1, column2 FROM mytable;</a:t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333600" y="3153675"/>
            <a:ext cx="847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FROM</a:t>
            </a:r>
            <a:r>
              <a:rPr lang="en"/>
              <a:t> mytable</a:t>
            </a:r>
            <a:r>
              <a:rPr lang="en"/>
              <a:t> WHERE </a:t>
            </a:r>
            <a:r>
              <a:rPr lang="en"/>
              <a:t>column</a:t>
            </a:r>
            <a:r>
              <a:rPr lang="en"/>
              <a:t>=</a:t>
            </a:r>
            <a:r>
              <a:rPr lang="en"/>
              <a:t>column_value;</a:t>
            </a:r>
            <a:r>
              <a:rPr lang="en"/>
              <a:t> </a:t>
            </a:r>
            <a:endParaRPr/>
          </a:p>
        </p:txBody>
      </p:sp>
      <p:sp>
        <p:nvSpPr>
          <p:cNvPr id="160" name="Google Shape;160;p26"/>
          <p:cNvSpPr txBox="1"/>
          <p:nvPr/>
        </p:nvSpPr>
        <p:spPr>
          <a:xfrm>
            <a:off x="355500" y="3553875"/>
            <a:ext cx="79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table SET column1=column1_value WHERE column2=column2_value;</a:t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311700" y="1552875"/>
            <a:ext cx="82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four basic functions of persistent storage are called CRUD, or create, read, update and delete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Integrity Restrictions</a:t>
            </a:r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311700" y="1875800"/>
            <a:ext cx="750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Domain integrit</a:t>
            </a:r>
            <a:r>
              <a:rPr b="1" lang="en" u="sng"/>
              <a:t>y</a:t>
            </a:r>
            <a:r>
              <a:rPr lang="en"/>
              <a:t>: Defines the possible values for an attribute.</a:t>
            </a:r>
            <a:br>
              <a:rPr lang="en"/>
            </a:br>
            <a:r>
              <a:rPr lang="en"/>
              <a:t>Type, length, range, constrains, null support, default value.</a:t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311700" y="2491400"/>
            <a:ext cx="777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Entity integrity</a:t>
            </a:r>
            <a:r>
              <a:rPr lang="en"/>
              <a:t>: Concerns the concept of a Primary Key.</a:t>
            </a:r>
            <a:br>
              <a:rPr lang="en"/>
            </a:br>
            <a:r>
              <a:rPr lang="en"/>
              <a:t>- Every table must have a primary key.</a:t>
            </a:r>
            <a:br>
              <a:rPr lang="en"/>
            </a:br>
            <a:r>
              <a:rPr lang="en"/>
              <a:t>- The column or columns chosen to be the primary key should be unique and not null.</a:t>
            </a:r>
            <a:br>
              <a:rPr lang="en"/>
            </a:br>
            <a:r>
              <a:rPr lang="en"/>
              <a:t>- More than one </a:t>
            </a:r>
            <a:r>
              <a:rPr lang="en"/>
              <a:t>column</a:t>
            </a:r>
            <a:r>
              <a:rPr lang="en"/>
              <a:t> to use as primary key? Composite primary key.</a:t>
            </a:r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311700" y="3538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Referential integrity</a:t>
            </a:r>
            <a:r>
              <a:rPr lang="en"/>
              <a:t>: Concerns the concept of a Foreign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foreign key must reference another column (usually the primary key from another table).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data in one table is changed, related tables will be verified to ensure consistency.</a:t>
            </a:r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311700" y="1127050"/>
            <a:ext cx="790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integrity restriction is a specified condition over the schema in order to restrict the data that can be stored in a table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Referential Integrity </a:t>
            </a:r>
            <a:r>
              <a:rPr lang="en" sz="1688"/>
              <a:t>(on delete / on update)</a:t>
            </a:r>
            <a:endParaRPr sz="1688"/>
          </a:p>
        </p:txBody>
      </p:sp>
      <p:sp>
        <p:nvSpPr>
          <p:cNvPr id="176" name="Google Shape;176;p28"/>
          <p:cNvSpPr txBox="1"/>
          <p:nvPr/>
        </p:nvSpPr>
        <p:spPr>
          <a:xfrm>
            <a:off x="236700" y="1207150"/>
            <a:ext cx="10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Cascade: 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1131900" y="1207150"/>
            <a:ext cx="7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deletes/updates the foreign key entries that point to the referred record;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236700" y="1607350"/>
            <a:ext cx="10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null:  </a:t>
            </a:r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1013700" y="1607350"/>
            <a:ext cx="62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makes null the foreign key entries that point to the referred record;</a:t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236700" y="1973600"/>
            <a:ext cx="13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default:  </a:t>
            </a:r>
            <a:endParaRPr/>
          </a:p>
        </p:txBody>
      </p:sp>
      <p:sp>
        <p:nvSpPr>
          <p:cNvPr id="181" name="Google Shape;181;p28"/>
          <p:cNvSpPr txBox="1"/>
          <p:nvPr/>
        </p:nvSpPr>
        <p:spPr>
          <a:xfrm>
            <a:off x="1265400" y="1973600"/>
            <a:ext cx="7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to the default value the foreign key entries that point to the referred record;</a:t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236700" y="2371650"/>
            <a:ext cx="13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o action</a:t>
            </a:r>
            <a:r>
              <a:rPr lang="en"/>
              <a:t>:  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1152900" y="2371650"/>
            <a:ext cx="7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prevents the entry that is being referred to from being deleted/updated.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663150" y="1999050"/>
            <a:ext cx="18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