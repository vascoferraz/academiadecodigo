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b6695a54e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b6695a54e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b6695a54e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b6695a54e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b66cdc95a7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b66cdc95a7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b66cdc95a7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b66cdc95a7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b66cdc95a7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b66cdc95a7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af8a90546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af8a90546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78c9c4d7d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78c9c4d7d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b6f948bb7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b6f948bb7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af8a90546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af8a90546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b6695a54e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b6695a54e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78c9c4d7d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78c9c4d7d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en.wikipedia.org/wiki/Scuba_diving" TargetMode="External"/><Relationship Id="rId4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9.jpg"/><Relationship Id="rId10" Type="http://schemas.openxmlformats.org/officeDocument/2006/relationships/image" Target="../media/image4.jpg"/><Relationship Id="rId9" Type="http://schemas.openxmlformats.org/officeDocument/2006/relationships/image" Target="../media/image8.jpg"/><Relationship Id="rId5" Type="http://schemas.openxmlformats.org/officeDocument/2006/relationships/image" Target="../media/image17.jpg"/><Relationship Id="rId6" Type="http://schemas.openxmlformats.org/officeDocument/2006/relationships/image" Target="../media/image16.jpg"/><Relationship Id="rId7" Type="http://schemas.openxmlformats.org/officeDocument/2006/relationships/image" Target="../media/image12.jpg"/><Relationship Id="rId8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386775"/>
            <a:ext cx="8520600" cy="5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00"/>
              <a:t>Linus Torvalds</a:t>
            </a:r>
            <a:endParaRPr sz="3000"/>
          </a:p>
        </p:txBody>
      </p:sp>
      <p:sp>
        <p:nvSpPr>
          <p:cNvPr id="55" name="Google Shape;55;p13"/>
          <p:cNvSpPr txBox="1"/>
          <p:nvPr/>
        </p:nvSpPr>
        <p:spPr>
          <a:xfrm>
            <a:off x="3251450" y="1509770"/>
            <a:ext cx="573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Born: </a:t>
            </a:r>
            <a:r>
              <a:rPr lang="en" sz="1800"/>
              <a:t>28 December 1969 - Helsinki, Finland</a:t>
            </a:r>
            <a:endParaRPr sz="180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500" y="1345563"/>
            <a:ext cx="2452375" cy="24523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251450" y="2086475"/>
            <a:ext cx="573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Nationality: Finish and American (naturalized in 2010)</a:t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3251450" y="2663175"/>
            <a:ext cx="558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Master degree: Computer science (1988 - 1996)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251450" y="3239875"/>
            <a:ext cx="558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Occupation: Software engineer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310050" y="1386325"/>
            <a:ext cx="8523900" cy="5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Linux kernel is used on Linux, Android and Chrome OS.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8846" y="200000"/>
            <a:ext cx="1186300" cy="11863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10050" y="2023750"/>
            <a:ext cx="8523900" cy="5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No open source (UNIX) or free</a:t>
            </a:r>
            <a:r>
              <a:rPr lang="en" sz="2000">
                <a:solidFill>
                  <a:srgbClr val="B7B7B7"/>
                </a:solidFill>
              </a:rPr>
              <a:t>dom</a:t>
            </a:r>
            <a:r>
              <a:rPr lang="en" sz="2000">
                <a:solidFill>
                  <a:schemeClr val="dk1"/>
                </a:solidFill>
              </a:rPr>
              <a:t> alternatives (MINIX).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310050" y="2661175"/>
            <a:ext cx="8523900" cy="5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Inspired by Richard Stallman’s incomplete kernel (GNU).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310050" y="3298600"/>
            <a:ext cx="852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Ari Lemmke said that Freax (Free + Freak + x) was not a good name.</a:t>
            </a:r>
            <a:endParaRPr sz="2000"/>
          </a:p>
        </p:txBody>
      </p:sp>
      <p:sp>
        <p:nvSpPr>
          <p:cNvPr id="69" name="Google Shape;69;p14"/>
          <p:cNvSpPr txBox="1"/>
          <p:nvPr/>
        </p:nvSpPr>
        <p:spPr>
          <a:xfrm>
            <a:off x="310050" y="3914125"/>
            <a:ext cx="852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Linux kernel first release in September 1991.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idx="1" type="subTitle"/>
          </p:nvPr>
        </p:nvSpPr>
        <p:spPr>
          <a:xfrm>
            <a:off x="310050" y="1386325"/>
            <a:ext cx="8523900" cy="5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1991 - 2002: Changes were passed around as patches and archived files.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75" name="Google Shape;75;p15"/>
          <p:cNvSpPr txBox="1"/>
          <p:nvPr>
            <p:ph idx="1" type="subTitle"/>
          </p:nvPr>
        </p:nvSpPr>
        <p:spPr>
          <a:xfrm>
            <a:off x="310050" y="2023738"/>
            <a:ext cx="8523900" cy="5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2002 - 2005: </a:t>
            </a:r>
            <a:r>
              <a:rPr lang="en" sz="2000">
                <a:solidFill>
                  <a:schemeClr val="dk1"/>
                </a:solidFill>
              </a:rPr>
              <a:t>BitKeeper (but in 2005 it was no longer free).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76" name="Google Shape;76;p15"/>
          <p:cNvSpPr txBox="1"/>
          <p:nvPr>
            <p:ph idx="1" type="subTitle"/>
          </p:nvPr>
        </p:nvSpPr>
        <p:spPr>
          <a:xfrm>
            <a:off x="310050" y="2661175"/>
            <a:ext cx="8523900" cy="5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&gt;2005: </a:t>
            </a:r>
            <a:r>
              <a:rPr lang="en" sz="2000">
                <a:solidFill>
                  <a:schemeClr val="dk1"/>
                </a:solidFill>
              </a:rPr>
              <a:t>Git (Distributed revision control system) started in April 2005.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613" y="420994"/>
            <a:ext cx="1828770" cy="7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310050" y="3298600"/>
            <a:ext cx="852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Since July 2005 Junio Hamano has been the maintainer of Git.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idx="1" type="subTitle"/>
          </p:nvPr>
        </p:nvSpPr>
        <p:spPr>
          <a:xfrm>
            <a:off x="310050" y="1386325"/>
            <a:ext cx="8523900" cy="5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Subsurface is a software for logging and planning scuba div</a:t>
            </a:r>
            <a:r>
              <a:rPr lang="en" sz="2000">
                <a:solidFill>
                  <a:srgbClr val="000000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es</a:t>
            </a:r>
            <a:r>
              <a:rPr lang="en" sz="2000">
                <a:solidFill>
                  <a:srgbClr val="000000"/>
                </a:solidFill>
              </a:rPr>
              <a:t>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84" name="Google Shape;84;p16"/>
          <p:cNvSpPr txBox="1"/>
          <p:nvPr>
            <p:ph idx="1" type="subTitle"/>
          </p:nvPr>
        </p:nvSpPr>
        <p:spPr>
          <a:xfrm>
            <a:off x="310050" y="2023738"/>
            <a:ext cx="8523900" cy="5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First version released in September 2011.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85" name="Google Shape;85;p16"/>
          <p:cNvSpPr txBox="1"/>
          <p:nvPr>
            <p:ph idx="1" type="subTitle"/>
          </p:nvPr>
        </p:nvSpPr>
        <p:spPr>
          <a:xfrm>
            <a:off x="310050" y="2661163"/>
            <a:ext cx="8523900" cy="5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Latest stable version released in November 2020.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310050" y="3298600"/>
            <a:ext cx="852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Free and open-source software.</a:t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0088" y="122500"/>
            <a:ext cx="1263825" cy="12638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310050" y="3914125"/>
            <a:ext cx="852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So, why Linus developed Subsurface?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975" y="152400"/>
            <a:ext cx="825804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8400" y="175600"/>
            <a:ext cx="4567201" cy="138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571750"/>
            <a:ext cx="3886200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847662"/>
            <a:ext cx="8839201" cy="43523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/>
          <p:nvPr/>
        </p:nvSpPr>
        <p:spPr>
          <a:xfrm>
            <a:off x="7516225" y="1847650"/>
            <a:ext cx="1475400" cy="492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48500" y="2503225"/>
            <a:ext cx="2011250" cy="112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13850" y="2470075"/>
            <a:ext cx="1905247" cy="119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17119" y="3685850"/>
            <a:ext cx="2011250" cy="1340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71025" y="3793113"/>
            <a:ext cx="2258094" cy="112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11988" y="3731929"/>
            <a:ext cx="1475400" cy="1248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310050" y="1386325"/>
            <a:ext cx="8523900" cy="5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Linux kernel</a:t>
            </a:r>
            <a:r>
              <a:rPr lang="en" sz="2000">
                <a:solidFill>
                  <a:schemeClr val="dk1"/>
                </a:solidFill>
              </a:rPr>
              <a:t> as an average of </a:t>
            </a:r>
            <a:r>
              <a:rPr lang="en" sz="2000">
                <a:solidFill>
                  <a:schemeClr val="dk1"/>
                </a:solidFill>
              </a:rPr>
              <a:t>100 commits per day.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12" name="Google Shape;112;p19"/>
          <p:cNvSpPr txBox="1"/>
          <p:nvPr>
            <p:ph idx="1" type="subTitle"/>
          </p:nvPr>
        </p:nvSpPr>
        <p:spPr>
          <a:xfrm>
            <a:off x="310050" y="2023738"/>
            <a:ext cx="8523900" cy="5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Linus Torvalds is extremely introvert :)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310050" y="2661175"/>
            <a:ext cx="8523900" cy="5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Linus started to be the only one to validate pull requests.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310050" y="3298600"/>
            <a:ext cx="852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But c</a:t>
            </a:r>
            <a:r>
              <a:rPr lang="en" sz="2000">
                <a:solidFill>
                  <a:schemeClr val="dk1"/>
                </a:solidFill>
              </a:rPr>
              <a:t>urrently there are more than 1500 kernel maintainers.</a:t>
            </a:r>
            <a:endParaRPr/>
          </a:p>
        </p:txBody>
      </p:sp>
      <p:pic>
        <p:nvPicPr>
          <p:cNvPr id="115" name="Google Shape;11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5731" y="93819"/>
            <a:ext cx="1252525" cy="12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 txBox="1"/>
          <p:nvPr/>
        </p:nvSpPr>
        <p:spPr>
          <a:xfrm>
            <a:off x="310050" y="3914125"/>
            <a:ext cx="852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97% of the Linux kernel code is written in C.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idx="1" type="subTitle"/>
          </p:nvPr>
        </p:nvSpPr>
        <p:spPr>
          <a:xfrm>
            <a:off x="3283949" y="990675"/>
            <a:ext cx="2576100" cy="3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Awards and achievements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22" name="Google Shape;122;p20"/>
          <p:cNvSpPr txBox="1"/>
          <p:nvPr>
            <p:ph idx="1" type="subTitle"/>
          </p:nvPr>
        </p:nvSpPr>
        <p:spPr>
          <a:xfrm>
            <a:off x="310050" y="1444700"/>
            <a:ext cx="3203100" cy="3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1995 - </a:t>
            </a:r>
            <a:r>
              <a:rPr lang="en" sz="1400">
                <a:solidFill>
                  <a:schemeClr val="dk1"/>
                </a:solidFill>
              </a:rPr>
              <a:t>Running Linux on AlphaStation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23" name="Google Shape;123;p20"/>
          <p:cNvSpPr txBox="1"/>
          <p:nvPr>
            <p:ph idx="1" type="subTitle"/>
          </p:nvPr>
        </p:nvSpPr>
        <p:spPr>
          <a:xfrm>
            <a:off x="310050" y="1798100"/>
            <a:ext cx="3203100" cy="3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1996 - 9793 Torvalds (Asteroid)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24" name="Google Shape;124;p20"/>
          <p:cNvSpPr txBox="1"/>
          <p:nvPr>
            <p:ph idx="1" type="subTitle"/>
          </p:nvPr>
        </p:nvSpPr>
        <p:spPr>
          <a:xfrm>
            <a:off x="310050" y="2151500"/>
            <a:ext cx="3203100" cy="3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1997 - </a:t>
            </a:r>
            <a:r>
              <a:rPr lang="en" sz="1400">
                <a:solidFill>
                  <a:srgbClr val="000000"/>
                </a:solidFill>
              </a:rPr>
              <a:t>Academic Honors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25" name="Google Shape;125;p20"/>
          <p:cNvSpPr txBox="1"/>
          <p:nvPr>
            <p:ph idx="1" type="subTitle"/>
          </p:nvPr>
        </p:nvSpPr>
        <p:spPr>
          <a:xfrm>
            <a:off x="310050" y="2504900"/>
            <a:ext cx="3203100" cy="3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1998 - EFF Pioneer Award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26" name="Google Shape;126;p20"/>
          <p:cNvSpPr txBox="1"/>
          <p:nvPr>
            <p:ph idx="1" type="subTitle"/>
          </p:nvPr>
        </p:nvSpPr>
        <p:spPr>
          <a:xfrm>
            <a:off x="310050" y="2858300"/>
            <a:ext cx="3203100" cy="3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2000 - Lovelace Medal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27" name="Google Shape;127;p20"/>
          <p:cNvSpPr txBox="1"/>
          <p:nvPr>
            <p:ph idx="1" type="subTitle"/>
          </p:nvPr>
        </p:nvSpPr>
        <p:spPr>
          <a:xfrm>
            <a:off x="310050" y="3211700"/>
            <a:ext cx="3203100" cy="3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2001 - Takeda Award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28" name="Google Shape;128;p20"/>
          <p:cNvSpPr txBox="1"/>
          <p:nvPr>
            <p:ph idx="1" type="subTitle"/>
          </p:nvPr>
        </p:nvSpPr>
        <p:spPr>
          <a:xfrm>
            <a:off x="310050" y="3565100"/>
            <a:ext cx="3203100" cy="3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2003 - Linus (Moon)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29" name="Google Shape;129;p20"/>
          <p:cNvSpPr txBox="1"/>
          <p:nvPr>
            <p:ph idx="1" type="subTitle"/>
          </p:nvPr>
        </p:nvSpPr>
        <p:spPr>
          <a:xfrm>
            <a:off x="310050" y="3918500"/>
            <a:ext cx="3203100" cy="3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2005 - </a:t>
            </a:r>
            <a:r>
              <a:rPr lang="en" sz="1400">
                <a:solidFill>
                  <a:srgbClr val="000000"/>
                </a:solidFill>
              </a:rPr>
              <a:t>Vollum Award 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30" name="Google Shape;130;p20"/>
          <p:cNvSpPr txBox="1"/>
          <p:nvPr>
            <p:ph idx="1" type="subTitle"/>
          </p:nvPr>
        </p:nvSpPr>
        <p:spPr>
          <a:xfrm>
            <a:off x="4812050" y="1444700"/>
            <a:ext cx="3203100" cy="3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2008</a:t>
            </a:r>
            <a:r>
              <a:rPr lang="en" sz="1400">
                <a:solidFill>
                  <a:srgbClr val="000000"/>
                </a:solidFill>
              </a:rPr>
              <a:t> - </a:t>
            </a:r>
            <a:r>
              <a:rPr lang="en" sz="1400">
                <a:solidFill>
                  <a:srgbClr val="000000"/>
                </a:solidFill>
              </a:rPr>
              <a:t>Hall of Fellows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31" name="Google Shape;131;p20"/>
          <p:cNvSpPr txBox="1"/>
          <p:nvPr>
            <p:ph idx="1" type="subTitle"/>
          </p:nvPr>
        </p:nvSpPr>
        <p:spPr>
          <a:xfrm>
            <a:off x="4812050" y="1798100"/>
            <a:ext cx="3203100" cy="3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2010 - </a:t>
            </a:r>
            <a:r>
              <a:rPr lang="en" sz="1400">
                <a:solidFill>
                  <a:srgbClr val="000000"/>
                </a:solidFill>
              </a:rPr>
              <a:t>C&amp;C Prize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32" name="Google Shape;132;p20"/>
          <p:cNvSpPr txBox="1"/>
          <p:nvPr>
            <p:ph idx="1" type="subTitle"/>
          </p:nvPr>
        </p:nvSpPr>
        <p:spPr>
          <a:xfrm>
            <a:off x="4812050" y="2151500"/>
            <a:ext cx="3203100" cy="3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2012 - Millennium Technology Prize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33" name="Google Shape;133;p20"/>
          <p:cNvSpPr txBox="1"/>
          <p:nvPr>
            <p:ph idx="1" type="subTitle"/>
          </p:nvPr>
        </p:nvSpPr>
        <p:spPr>
          <a:xfrm>
            <a:off x="4812050" y="2504900"/>
            <a:ext cx="3203100" cy="3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2012 - </a:t>
            </a:r>
            <a:r>
              <a:rPr lang="en" sz="1400">
                <a:solidFill>
                  <a:srgbClr val="000000"/>
                </a:solidFill>
              </a:rPr>
              <a:t>Internet Hall of Fame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34" name="Google Shape;134;p20"/>
          <p:cNvSpPr txBox="1"/>
          <p:nvPr>
            <p:ph idx="1" type="subTitle"/>
          </p:nvPr>
        </p:nvSpPr>
        <p:spPr>
          <a:xfrm>
            <a:off x="4812050" y="2858300"/>
            <a:ext cx="3203100" cy="3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2014 - </a:t>
            </a:r>
            <a:r>
              <a:rPr lang="en" sz="1400">
                <a:solidFill>
                  <a:srgbClr val="000000"/>
                </a:solidFill>
              </a:rPr>
              <a:t>IEEE Computer Pioneer Award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35" name="Google Shape;135;p20"/>
          <p:cNvSpPr txBox="1"/>
          <p:nvPr>
            <p:ph idx="1" type="subTitle"/>
          </p:nvPr>
        </p:nvSpPr>
        <p:spPr>
          <a:xfrm>
            <a:off x="4812050" y="3211700"/>
            <a:ext cx="3203100" cy="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2018 - </a:t>
            </a:r>
            <a:r>
              <a:rPr lang="en" sz="1400">
                <a:solidFill>
                  <a:srgbClr val="000000"/>
                </a:solidFill>
              </a:rPr>
              <a:t>IEEE Masaru Ibuka Consumer Electronics Award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id="136" name="Google Shape;13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3700" y="59200"/>
            <a:ext cx="956581" cy="103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idx="1" type="subTitle"/>
          </p:nvPr>
        </p:nvSpPr>
        <p:spPr>
          <a:xfrm>
            <a:off x="310075" y="1889488"/>
            <a:ext cx="8523900" cy="5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Microsoft isn't evil, they just make really crappy operating systems.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42" name="Google Shape;142;p21"/>
          <p:cNvSpPr txBox="1"/>
          <p:nvPr>
            <p:ph idx="1" type="subTitle"/>
          </p:nvPr>
        </p:nvSpPr>
        <p:spPr>
          <a:xfrm>
            <a:off x="310050" y="2502363"/>
            <a:ext cx="8523900" cy="5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Software is like sex: it's better when it's free.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310038" y="3115250"/>
            <a:ext cx="8523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A computer is like air conditioning – it becomes useless when you open Windows.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144" name="Google Shape;1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5675" y="257225"/>
            <a:ext cx="1518100" cy="15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0" y="957263"/>
            <a:ext cx="5715000" cy="32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311700" y="1999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Thank you</a:t>
            </a:r>
            <a:endParaRPr sz="28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