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Comforta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mfortaa-bold.fntdata"/><Relationship Id="rId12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ba61234db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ba61234db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a61234db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a61234d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bd5de9db6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bd5de9db6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bda727287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bda727287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ba61234db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ba61234db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554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dk1"/>
                </a:solidFill>
              </a:rPr>
              <a:t>Pass by #value vs. pass by &amp;reference</a:t>
            </a:r>
            <a:endParaRPr sz="3800"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4311225"/>
            <a:ext cx="26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/ 19 February 2021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34681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dk1"/>
                </a:solidFill>
              </a:rPr>
              <a:t>In Java</a:t>
            </a:r>
            <a:endParaRPr sz="3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67375"/>
            <a:ext cx="85206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Before starting let’s recall the following: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54063" y="1027338"/>
            <a:ext cx="457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 </a:t>
            </a:r>
            <a:r>
              <a:rPr lang="en">
                <a:solidFill>
                  <a:schemeClr val="dk1"/>
                </a:solidFill>
              </a:rPr>
              <a:t>is</a:t>
            </a:r>
            <a:r>
              <a:rPr lang="en">
                <a:solidFill>
                  <a:schemeClr val="dk1"/>
                </a:solidFill>
              </a:rPr>
              <a:t> the real value passed to the method.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454063" y="1609850"/>
            <a:ext cx="505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is a named variable passed into a method.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937163" y="2901650"/>
            <a:ext cx="115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add (1, 2);</a:t>
            </a:r>
            <a:endParaRPr b="1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1087163" y="3195075"/>
            <a:ext cx="1229400" cy="931575"/>
            <a:chOff x="1087163" y="3195075"/>
            <a:chExt cx="1229400" cy="931575"/>
          </a:xfrm>
        </p:grpSpPr>
        <p:sp>
          <p:nvSpPr>
            <p:cNvPr id="66" name="Google Shape;66;p14"/>
            <p:cNvSpPr txBox="1"/>
            <p:nvPr/>
          </p:nvSpPr>
          <p:spPr>
            <a:xfrm>
              <a:off x="1087163" y="3726450"/>
              <a:ext cx="1229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C4587"/>
                  </a:solidFill>
                </a:rPr>
                <a:t>arguments</a:t>
              </a:r>
              <a:endParaRPr>
                <a:solidFill>
                  <a:srgbClr val="1C4587"/>
                </a:solidFill>
              </a:endParaRPr>
            </a:p>
          </p:txBody>
        </p:sp>
        <p:cxnSp>
          <p:nvCxnSpPr>
            <p:cNvPr id="67" name="Google Shape;67;p14"/>
            <p:cNvCxnSpPr/>
            <p:nvPr/>
          </p:nvCxnSpPr>
          <p:spPr>
            <a:xfrm flipH="1" rot="10800000">
              <a:off x="1604438" y="3195100"/>
              <a:ext cx="120000" cy="651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" name="Google Shape;68;p14"/>
            <p:cNvCxnSpPr/>
            <p:nvPr/>
          </p:nvCxnSpPr>
          <p:spPr>
            <a:xfrm rot="10800000">
              <a:off x="1549588" y="3195075"/>
              <a:ext cx="50100" cy="65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9" name="Google Shape;69;p14"/>
          <p:cNvSpPr txBox="1"/>
          <p:nvPr/>
        </p:nvSpPr>
        <p:spPr>
          <a:xfrm>
            <a:off x="4371138" y="2901650"/>
            <a:ext cx="4318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int add (int a, int b) {</a:t>
            </a:r>
            <a:endParaRPr b="1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     </a:t>
            </a:r>
            <a:endParaRPr b="1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     return (a+b);</a:t>
            </a:r>
            <a:br>
              <a:rPr b="1" lang="en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b="1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>
            <a:off x="5597438" y="3209125"/>
            <a:ext cx="1857575" cy="1139425"/>
            <a:chOff x="5597438" y="3209125"/>
            <a:chExt cx="1857575" cy="1139425"/>
          </a:xfrm>
        </p:grpSpPr>
        <p:sp>
          <p:nvSpPr>
            <p:cNvPr id="71" name="Google Shape;71;p14"/>
            <p:cNvSpPr txBox="1"/>
            <p:nvPr/>
          </p:nvSpPr>
          <p:spPr>
            <a:xfrm>
              <a:off x="6225613" y="3948350"/>
              <a:ext cx="1229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C4587"/>
                  </a:solidFill>
                </a:rPr>
                <a:t>parameters</a:t>
              </a:r>
              <a:endParaRPr>
                <a:solidFill>
                  <a:srgbClr val="1C4587"/>
                </a:solidFill>
              </a:endParaRPr>
            </a:p>
          </p:txBody>
        </p:sp>
        <p:cxnSp>
          <p:nvCxnSpPr>
            <p:cNvPr id="72" name="Google Shape;72;p14"/>
            <p:cNvCxnSpPr/>
            <p:nvPr/>
          </p:nvCxnSpPr>
          <p:spPr>
            <a:xfrm rot="10800000">
              <a:off x="6028238" y="3209125"/>
              <a:ext cx="712200" cy="86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3" name="Google Shape;73;p14"/>
            <p:cNvCxnSpPr/>
            <p:nvPr/>
          </p:nvCxnSpPr>
          <p:spPr>
            <a:xfrm rot="10800000">
              <a:off x="5597438" y="3209125"/>
              <a:ext cx="1128000" cy="8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4" name="Google Shape;74;p14"/>
          <p:cNvGrpSpPr/>
          <p:nvPr/>
        </p:nvGrpSpPr>
        <p:grpSpPr>
          <a:xfrm>
            <a:off x="1549588" y="2192360"/>
            <a:ext cx="4651000" cy="846401"/>
            <a:chOff x="1549588" y="2192360"/>
            <a:chExt cx="4651000" cy="846401"/>
          </a:xfrm>
        </p:grpSpPr>
        <p:sp>
          <p:nvSpPr>
            <p:cNvPr id="75" name="Google Shape;75;p14"/>
            <p:cNvSpPr/>
            <p:nvPr/>
          </p:nvSpPr>
          <p:spPr>
            <a:xfrm>
              <a:off x="1549588" y="2388375"/>
              <a:ext cx="3871113" cy="650386"/>
            </a:xfrm>
            <a:custGeom>
              <a:rect b="b" l="l" r="r" t="t"/>
              <a:pathLst>
                <a:path extrusionOk="0" h="23863" w="156456">
                  <a:moveTo>
                    <a:pt x="0" y="22031"/>
                  </a:moveTo>
                  <a:cubicBezTo>
                    <a:pt x="6245" y="17869"/>
                    <a:pt x="9826" y="9822"/>
                    <a:pt x="16795" y="7036"/>
                  </a:cubicBezTo>
                  <a:cubicBezTo>
                    <a:pt x="35251" y="-343"/>
                    <a:pt x="56302" y="1637"/>
                    <a:pt x="76178" y="1637"/>
                  </a:cubicBezTo>
                  <a:cubicBezTo>
                    <a:pt x="90574" y="1637"/>
                    <a:pt x="105399" y="-1854"/>
                    <a:pt x="119365" y="1637"/>
                  </a:cubicBezTo>
                  <a:cubicBezTo>
                    <a:pt x="129214" y="4099"/>
                    <a:pt x="139027" y="8194"/>
                    <a:pt x="146957" y="14533"/>
                  </a:cubicBezTo>
                  <a:cubicBezTo>
                    <a:pt x="149727" y="16747"/>
                    <a:pt x="152014" y="19608"/>
                    <a:pt x="155055" y="21431"/>
                  </a:cubicBezTo>
                  <a:cubicBezTo>
                    <a:pt x="156173" y="22101"/>
                    <a:pt x="150452" y="23531"/>
                    <a:pt x="151756" y="23531"/>
                  </a:cubicBezTo>
                  <a:cubicBezTo>
                    <a:pt x="152956" y="23531"/>
                    <a:pt x="154357" y="24197"/>
                    <a:pt x="155355" y="23531"/>
                  </a:cubicBezTo>
                  <a:cubicBezTo>
                    <a:pt x="157358" y="22195"/>
                    <a:pt x="155954" y="18741"/>
                    <a:pt x="155954" y="16333"/>
                  </a:cubicBezTo>
                </a:path>
              </a:pathLst>
            </a:cu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6" name="Google Shape;76;p14"/>
            <p:cNvSpPr/>
            <p:nvPr/>
          </p:nvSpPr>
          <p:spPr>
            <a:xfrm>
              <a:off x="1746888" y="2192360"/>
              <a:ext cx="4453700" cy="809300"/>
            </a:xfrm>
            <a:custGeom>
              <a:rect b="b" l="l" r="r" t="t"/>
              <a:pathLst>
                <a:path extrusionOk="0" h="32372" w="178148">
                  <a:moveTo>
                    <a:pt x="0" y="31672"/>
                  </a:moveTo>
                  <a:cubicBezTo>
                    <a:pt x="24061" y="25657"/>
                    <a:pt x="49124" y="23805"/>
                    <a:pt x="72879" y="16676"/>
                  </a:cubicBezTo>
                  <a:cubicBezTo>
                    <a:pt x="95057" y="10020"/>
                    <a:pt x="117249" y="-1264"/>
                    <a:pt x="140359" y="181"/>
                  </a:cubicBezTo>
                  <a:cubicBezTo>
                    <a:pt x="150677" y="826"/>
                    <a:pt x="164017" y="1476"/>
                    <a:pt x="169751" y="10078"/>
                  </a:cubicBezTo>
                  <a:cubicBezTo>
                    <a:pt x="172524" y="14238"/>
                    <a:pt x="171769" y="19872"/>
                    <a:pt x="172750" y="24774"/>
                  </a:cubicBezTo>
                  <a:cubicBezTo>
                    <a:pt x="173247" y="27256"/>
                    <a:pt x="176351" y="33072"/>
                    <a:pt x="173950" y="32272"/>
                  </a:cubicBezTo>
                  <a:cubicBezTo>
                    <a:pt x="172128" y="31665"/>
                    <a:pt x="168529" y="27166"/>
                    <a:pt x="170351" y="27773"/>
                  </a:cubicBezTo>
                  <a:cubicBezTo>
                    <a:pt x="172192" y="28387"/>
                    <a:pt x="173777" y="32444"/>
                    <a:pt x="175149" y="31072"/>
                  </a:cubicBezTo>
                  <a:cubicBezTo>
                    <a:pt x="176857" y="29364"/>
                    <a:pt x="176809" y="26485"/>
                    <a:pt x="178148" y="24474"/>
                  </a:cubicBezTo>
                </a:path>
              </a:pathLst>
            </a:custGeom>
            <a:noFill/>
            <a:ln cap="flat" cmpd="sng" w="19050">
              <a:solidFill>
                <a:srgbClr val="E6913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311700" y="367375"/>
            <a:ext cx="85206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Pass by value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29875"/>
            <a:ext cx="6715490" cy="3908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6214593" y="1855377"/>
            <a:ext cx="1118250" cy="376600"/>
          </a:xfrm>
          <a:custGeom>
            <a:rect b="b" l="l" r="r" t="t"/>
            <a:pathLst>
              <a:path extrusionOk="0" h="15064" w="44730">
                <a:moveTo>
                  <a:pt x="44730" y="163"/>
                </a:moveTo>
                <a:cubicBezTo>
                  <a:pt x="31467" y="163"/>
                  <a:pt x="12869" y="-1910"/>
                  <a:pt x="6042" y="9461"/>
                </a:cubicBezTo>
                <a:cubicBezTo>
                  <a:pt x="5059" y="11098"/>
                  <a:pt x="3851" y="12805"/>
                  <a:pt x="2143" y="13659"/>
                </a:cubicBezTo>
                <a:cubicBezTo>
                  <a:pt x="1037" y="14212"/>
                  <a:pt x="1583" y="11249"/>
                  <a:pt x="1243" y="10060"/>
                </a:cubicBezTo>
                <a:cubicBezTo>
                  <a:pt x="1094" y="9540"/>
                  <a:pt x="844" y="8659"/>
                  <a:pt x="643" y="9161"/>
                </a:cubicBezTo>
                <a:cubicBezTo>
                  <a:pt x="12" y="10739"/>
                  <a:pt x="-377" y="12900"/>
                  <a:pt x="643" y="14259"/>
                </a:cubicBezTo>
                <a:cubicBezTo>
                  <a:pt x="2467" y="16692"/>
                  <a:pt x="6600" y="12760"/>
                  <a:pt x="9641" y="12760"/>
                </a:cubicBezTo>
              </a:path>
            </a:pathLst>
          </a:cu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" name="Google Shape;84;p15"/>
          <p:cNvSpPr/>
          <p:nvPr/>
        </p:nvSpPr>
        <p:spPr>
          <a:xfrm>
            <a:off x="3119100" y="2547709"/>
            <a:ext cx="1654625" cy="858375"/>
          </a:xfrm>
          <a:custGeom>
            <a:rect b="b" l="l" r="r" t="t"/>
            <a:pathLst>
              <a:path extrusionOk="0" h="34335" w="66185">
                <a:moveTo>
                  <a:pt x="0" y="62"/>
                </a:moveTo>
                <a:cubicBezTo>
                  <a:pt x="8103" y="62"/>
                  <a:pt x="16271" y="-185"/>
                  <a:pt x="24293" y="962"/>
                </a:cubicBezTo>
                <a:cubicBezTo>
                  <a:pt x="27620" y="1437"/>
                  <a:pt x="29984" y="4559"/>
                  <a:pt x="32990" y="6061"/>
                </a:cubicBezTo>
                <a:cubicBezTo>
                  <a:pt x="40550" y="9837"/>
                  <a:pt x="48908" y="12244"/>
                  <a:pt x="55783" y="17157"/>
                </a:cubicBezTo>
                <a:cubicBezTo>
                  <a:pt x="59870" y="20078"/>
                  <a:pt x="62200" y="25224"/>
                  <a:pt x="63581" y="30054"/>
                </a:cubicBezTo>
                <a:cubicBezTo>
                  <a:pt x="63921" y="31243"/>
                  <a:pt x="65355" y="32778"/>
                  <a:pt x="64481" y="33652"/>
                </a:cubicBezTo>
                <a:cubicBezTo>
                  <a:pt x="63322" y="34811"/>
                  <a:pt x="61742" y="31812"/>
                  <a:pt x="60582" y="30653"/>
                </a:cubicBezTo>
                <a:cubicBezTo>
                  <a:pt x="60482" y="30553"/>
                  <a:pt x="60782" y="30853"/>
                  <a:pt x="60882" y="30953"/>
                </a:cubicBezTo>
                <a:cubicBezTo>
                  <a:pt x="62086" y="32156"/>
                  <a:pt x="63111" y="34585"/>
                  <a:pt x="64781" y="34252"/>
                </a:cubicBezTo>
                <a:cubicBezTo>
                  <a:pt x="67554" y="33699"/>
                  <a:pt x="65085" y="28537"/>
                  <a:pt x="65980" y="25855"/>
                </a:cubicBezTo>
              </a:path>
            </a:pathLst>
          </a:cu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" name="Google Shape;85;p15"/>
          <p:cNvSpPr/>
          <p:nvPr/>
        </p:nvSpPr>
        <p:spPr>
          <a:xfrm>
            <a:off x="6381325" y="3951224"/>
            <a:ext cx="1273948" cy="518998"/>
          </a:xfrm>
          <a:custGeom>
            <a:rect b="b" l="l" r="r" t="t"/>
            <a:pathLst>
              <a:path extrusionOk="0" h="13960" w="51855">
                <a:moveTo>
                  <a:pt x="51855" y="0"/>
                </a:moveTo>
                <a:cubicBezTo>
                  <a:pt x="45825" y="12080"/>
                  <a:pt x="25706" y="17003"/>
                  <a:pt x="13167" y="11996"/>
                </a:cubicBezTo>
                <a:cubicBezTo>
                  <a:pt x="9896" y="10690"/>
                  <a:pt x="7399" y="7952"/>
                  <a:pt x="4469" y="5998"/>
                </a:cubicBezTo>
                <a:cubicBezTo>
                  <a:pt x="3464" y="5328"/>
                  <a:pt x="4142" y="2992"/>
                  <a:pt x="2970" y="2699"/>
                </a:cubicBezTo>
                <a:cubicBezTo>
                  <a:pt x="700" y="2131"/>
                  <a:pt x="1310" y="7077"/>
                  <a:pt x="570" y="9297"/>
                </a:cubicBezTo>
                <a:cubicBezTo>
                  <a:pt x="0" y="11007"/>
                  <a:pt x="1800" y="5909"/>
                  <a:pt x="2370" y="4199"/>
                </a:cubicBezTo>
                <a:cubicBezTo>
                  <a:pt x="3229" y="1623"/>
                  <a:pt x="8548" y="1379"/>
                  <a:pt x="10468" y="3299"/>
                </a:cubicBezTo>
              </a:path>
            </a:pathLst>
          </a:cu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" name="Google Shape;86;p15"/>
          <p:cNvSpPr/>
          <p:nvPr/>
        </p:nvSpPr>
        <p:spPr>
          <a:xfrm>
            <a:off x="6536284" y="2009425"/>
            <a:ext cx="1119000" cy="862250"/>
          </a:xfrm>
          <a:custGeom>
            <a:rect b="b" l="l" r="r" t="t"/>
            <a:pathLst>
              <a:path extrusionOk="0" h="34490" w="44760">
                <a:moveTo>
                  <a:pt x="44760" y="0"/>
                </a:moveTo>
                <a:cubicBezTo>
                  <a:pt x="44760" y="12663"/>
                  <a:pt x="28881" y="21786"/>
                  <a:pt x="16868" y="25792"/>
                </a:cubicBezTo>
                <a:cubicBezTo>
                  <a:pt x="12751" y="27165"/>
                  <a:pt x="8569" y="28477"/>
                  <a:pt x="4272" y="29091"/>
                </a:cubicBezTo>
                <a:cubicBezTo>
                  <a:pt x="3238" y="29239"/>
                  <a:pt x="2010" y="30729"/>
                  <a:pt x="1272" y="29991"/>
                </a:cubicBezTo>
                <a:cubicBezTo>
                  <a:pt x="121" y="28840"/>
                  <a:pt x="3669" y="27746"/>
                  <a:pt x="4571" y="26392"/>
                </a:cubicBezTo>
                <a:cubicBezTo>
                  <a:pt x="5125" y="25560"/>
                  <a:pt x="5371" y="23993"/>
                  <a:pt x="6371" y="23993"/>
                </a:cubicBezTo>
                <a:cubicBezTo>
                  <a:pt x="7489" y="23993"/>
                  <a:pt x="5426" y="26022"/>
                  <a:pt x="4871" y="26992"/>
                </a:cubicBezTo>
                <a:cubicBezTo>
                  <a:pt x="3783" y="28895"/>
                  <a:pt x="764" y="29410"/>
                  <a:pt x="73" y="31490"/>
                </a:cubicBezTo>
                <a:cubicBezTo>
                  <a:pt x="-218" y="32365"/>
                  <a:pt x="1850" y="32090"/>
                  <a:pt x="2772" y="32090"/>
                </a:cubicBezTo>
                <a:cubicBezTo>
                  <a:pt x="5301" y="32090"/>
                  <a:pt x="7571" y="33690"/>
                  <a:pt x="9970" y="34490"/>
                </a:cubicBezTo>
              </a:path>
            </a:pathLst>
          </a:custGeom>
          <a:noFill/>
          <a:ln cap="flat" cmpd="sng" w="1905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7" name="Google Shape;87;p15"/>
          <p:cNvGrpSpPr/>
          <p:nvPr/>
        </p:nvGrpSpPr>
        <p:grpSpPr>
          <a:xfrm>
            <a:off x="2489275" y="929875"/>
            <a:ext cx="6500450" cy="1042060"/>
            <a:chOff x="2489275" y="929875"/>
            <a:chExt cx="6500450" cy="1042060"/>
          </a:xfrm>
        </p:grpSpPr>
        <p:sp>
          <p:nvSpPr>
            <p:cNvPr id="88" name="Google Shape;88;p15"/>
            <p:cNvSpPr/>
            <p:nvPr/>
          </p:nvSpPr>
          <p:spPr>
            <a:xfrm>
              <a:off x="2489275" y="1021185"/>
              <a:ext cx="4979025" cy="950750"/>
            </a:xfrm>
            <a:custGeom>
              <a:rect b="b" l="l" r="r" t="t"/>
              <a:pathLst>
                <a:path extrusionOk="0" h="38030" w="199161">
                  <a:moveTo>
                    <a:pt x="0" y="38030"/>
                  </a:moveTo>
                  <a:cubicBezTo>
                    <a:pt x="3157" y="32508"/>
                    <a:pt x="10806" y="31278"/>
                    <a:pt x="16495" y="28433"/>
                  </a:cubicBezTo>
                  <a:cubicBezTo>
                    <a:pt x="31261" y="21048"/>
                    <a:pt x="46933" y="15213"/>
                    <a:pt x="62982" y="11338"/>
                  </a:cubicBezTo>
                  <a:cubicBezTo>
                    <a:pt x="78543" y="7581"/>
                    <a:pt x="94504" y="5684"/>
                    <a:pt x="110368" y="3540"/>
                  </a:cubicBezTo>
                  <a:cubicBezTo>
                    <a:pt x="120827" y="2126"/>
                    <a:pt x="131348" y="-715"/>
                    <a:pt x="141859" y="241"/>
                  </a:cubicBezTo>
                  <a:cubicBezTo>
                    <a:pt x="155004" y="1436"/>
                    <a:pt x="168427" y="-1029"/>
                    <a:pt x="181447" y="1141"/>
                  </a:cubicBezTo>
                  <a:cubicBezTo>
                    <a:pt x="185787" y="1864"/>
                    <a:pt x="190307" y="3191"/>
                    <a:pt x="193743" y="5939"/>
                  </a:cubicBezTo>
                  <a:cubicBezTo>
                    <a:pt x="195086" y="7013"/>
                    <a:pt x="197525" y="7269"/>
                    <a:pt x="197942" y="8938"/>
                  </a:cubicBezTo>
                  <a:cubicBezTo>
                    <a:pt x="198430" y="10887"/>
                    <a:pt x="189935" y="9538"/>
                    <a:pt x="191944" y="9538"/>
                  </a:cubicBezTo>
                  <a:cubicBezTo>
                    <a:pt x="194143" y="9538"/>
                    <a:pt x="197222" y="11297"/>
                    <a:pt x="198542" y="9538"/>
                  </a:cubicBezTo>
                  <a:cubicBezTo>
                    <a:pt x="199862" y="7779"/>
                    <a:pt x="198542" y="5139"/>
                    <a:pt x="198542" y="2940"/>
                  </a:cubicBezTo>
                </a:path>
              </a:pathLst>
            </a:cu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9" name="Google Shape;89;p15"/>
            <p:cNvGrpSpPr/>
            <p:nvPr/>
          </p:nvGrpSpPr>
          <p:grpSpPr>
            <a:xfrm>
              <a:off x="7335325" y="929875"/>
              <a:ext cx="1654400" cy="1015800"/>
              <a:chOff x="7335325" y="929875"/>
              <a:chExt cx="1654400" cy="1015800"/>
            </a:xfrm>
          </p:grpSpPr>
          <p:sp>
            <p:nvSpPr>
              <p:cNvPr id="90" name="Google Shape;90;p15"/>
              <p:cNvSpPr txBox="1"/>
              <p:nvPr/>
            </p:nvSpPr>
            <p:spPr>
              <a:xfrm>
                <a:off x="7335325" y="929875"/>
                <a:ext cx="81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38761D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num</a:t>
                </a:r>
                <a:endParaRPr b="1">
                  <a:solidFill>
                    <a:srgbClr val="38761D"/>
                  </a:solidFill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7392925" y="1330075"/>
                <a:ext cx="697200" cy="615600"/>
              </a:xfrm>
              <a:prstGeom prst="rect">
                <a:avLst/>
              </a:prstGeom>
              <a:solidFill>
                <a:srgbClr val="EFEFEF"/>
              </a:solidFill>
              <a:ln cap="flat" cmpd="sng" w="28575">
                <a:solidFill>
                  <a:srgbClr val="38761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8097525" y="1501375"/>
                <a:ext cx="8922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/>
                  <a:t>0x07FE</a:t>
                </a:r>
                <a:endParaRPr sz="1100"/>
              </a:p>
            </p:txBody>
          </p:sp>
        </p:grpSp>
      </p:grpSp>
      <p:grpSp>
        <p:nvGrpSpPr>
          <p:cNvPr id="93" name="Google Shape;93;p15"/>
          <p:cNvGrpSpPr/>
          <p:nvPr/>
        </p:nvGrpSpPr>
        <p:grpSpPr>
          <a:xfrm>
            <a:off x="4875163" y="2821750"/>
            <a:ext cx="4128850" cy="1015800"/>
            <a:chOff x="4911075" y="2896725"/>
            <a:chExt cx="4128850" cy="1015800"/>
          </a:xfrm>
        </p:grpSpPr>
        <p:sp>
          <p:nvSpPr>
            <p:cNvPr id="94" name="Google Shape;94;p15"/>
            <p:cNvSpPr/>
            <p:nvPr/>
          </p:nvSpPr>
          <p:spPr>
            <a:xfrm>
              <a:off x="4911075" y="3028981"/>
              <a:ext cx="2416450" cy="337550"/>
            </a:xfrm>
            <a:custGeom>
              <a:rect b="b" l="l" r="r" t="t"/>
              <a:pathLst>
                <a:path extrusionOk="0" h="13502" w="96658">
                  <a:moveTo>
                    <a:pt x="0" y="13502"/>
                  </a:moveTo>
                  <a:cubicBezTo>
                    <a:pt x="17774" y="-1318"/>
                    <a:pt x="45417" y="-1367"/>
                    <a:pt x="68380" y="1505"/>
                  </a:cubicBezTo>
                  <a:cubicBezTo>
                    <a:pt x="75595" y="2407"/>
                    <a:pt x="82176" y="6103"/>
                    <a:pt x="89074" y="8403"/>
                  </a:cubicBezTo>
                  <a:cubicBezTo>
                    <a:pt x="91505" y="9214"/>
                    <a:pt x="96272" y="8540"/>
                    <a:pt x="96272" y="11102"/>
                  </a:cubicBezTo>
                  <a:cubicBezTo>
                    <a:pt x="96272" y="13211"/>
                    <a:pt x="87864" y="10503"/>
                    <a:pt x="89973" y="10503"/>
                  </a:cubicBezTo>
                  <a:cubicBezTo>
                    <a:pt x="91983" y="10503"/>
                    <a:pt x="94717" y="12671"/>
                    <a:pt x="95972" y="11102"/>
                  </a:cubicBezTo>
                  <a:cubicBezTo>
                    <a:pt x="97544" y="9137"/>
                    <a:pt x="95869" y="5993"/>
                    <a:pt x="95072" y="3605"/>
                  </a:cubicBezTo>
                </a:path>
              </a:pathLst>
            </a:cu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5" name="Google Shape;95;p15"/>
            <p:cNvGrpSpPr/>
            <p:nvPr/>
          </p:nvGrpSpPr>
          <p:grpSpPr>
            <a:xfrm>
              <a:off x="7335325" y="2896725"/>
              <a:ext cx="1704600" cy="1015800"/>
              <a:chOff x="7335325" y="2896725"/>
              <a:chExt cx="1704600" cy="101580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7392925" y="3296925"/>
                <a:ext cx="697200" cy="615600"/>
              </a:xfrm>
              <a:prstGeom prst="rect">
                <a:avLst/>
              </a:prstGeom>
              <a:solidFill>
                <a:srgbClr val="EFEFEF"/>
              </a:solidFill>
              <a:ln cap="flat" cmpd="sng" w="28575">
                <a:solidFill>
                  <a:srgbClr val="E6913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10</a:t>
                </a:r>
                <a:endParaRPr/>
              </a:p>
            </p:txBody>
          </p:sp>
          <p:sp>
            <p:nvSpPr>
              <p:cNvPr id="97" name="Google Shape;97;p15"/>
              <p:cNvSpPr txBox="1"/>
              <p:nvPr/>
            </p:nvSpPr>
            <p:spPr>
              <a:xfrm>
                <a:off x="7335325" y="2896725"/>
                <a:ext cx="812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rgbClr val="E69138"/>
                    </a:solidFill>
                    <a:latin typeface="Comfortaa"/>
                    <a:ea typeface="Comfortaa"/>
                    <a:cs typeface="Comfortaa"/>
                    <a:sym typeface="Comfortaa"/>
                  </a:rPr>
                  <a:t>num</a:t>
                </a:r>
                <a:endParaRPr b="1">
                  <a:solidFill>
                    <a:srgbClr val="E69138"/>
                  </a:solidFill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98" name="Google Shape;98;p15"/>
              <p:cNvSpPr txBox="1"/>
              <p:nvPr/>
            </p:nvSpPr>
            <p:spPr>
              <a:xfrm>
                <a:off x="8147725" y="3427725"/>
                <a:ext cx="8922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/>
                  <a:t>0x07FF</a:t>
                </a:r>
                <a:endParaRPr sz="1100"/>
              </a:p>
            </p:txBody>
          </p:sp>
        </p:grpSp>
      </p:grpSp>
      <p:grpSp>
        <p:nvGrpSpPr>
          <p:cNvPr id="99" name="Google Shape;99;p15"/>
          <p:cNvGrpSpPr/>
          <p:nvPr/>
        </p:nvGrpSpPr>
        <p:grpSpPr>
          <a:xfrm>
            <a:off x="2841675" y="3221950"/>
            <a:ext cx="5218375" cy="615600"/>
            <a:chOff x="2841675" y="3221950"/>
            <a:chExt cx="5218375" cy="615600"/>
          </a:xfrm>
        </p:grpSpPr>
        <p:sp>
          <p:nvSpPr>
            <p:cNvPr id="100" name="Google Shape;100;p15"/>
            <p:cNvSpPr/>
            <p:nvPr/>
          </p:nvSpPr>
          <p:spPr>
            <a:xfrm>
              <a:off x="2841675" y="3537417"/>
              <a:ext cx="4479600" cy="239600"/>
            </a:xfrm>
            <a:custGeom>
              <a:rect b="b" l="l" r="r" t="t"/>
              <a:pathLst>
                <a:path extrusionOk="0" h="9584" w="179184">
                  <a:moveTo>
                    <a:pt x="0" y="7260"/>
                  </a:moveTo>
                  <a:cubicBezTo>
                    <a:pt x="41688" y="7260"/>
                    <a:pt x="83698" y="12433"/>
                    <a:pt x="125063" y="7260"/>
                  </a:cubicBezTo>
                  <a:cubicBezTo>
                    <a:pt x="137099" y="5755"/>
                    <a:pt x="149388" y="6555"/>
                    <a:pt x="161353" y="4560"/>
                  </a:cubicBezTo>
                  <a:cubicBezTo>
                    <a:pt x="165341" y="3895"/>
                    <a:pt x="169513" y="4040"/>
                    <a:pt x="173349" y="2761"/>
                  </a:cubicBezTo>
                  <a:cubicBezTo>
                    <a:pt x="175239" y="2131"/>
                    <a:pt x="179940" y="2742"/>
                    <a:pt x="179048" y="961"/>
                  </a:cubicBezTo>
                  <a:cubicBezTo>
                    <a:pt x="178598" y="63"/>
                    <a:pt x="177054" y="662"/>
                    <a:pt x="176049" y="662"/>
                  </a:cubicBezTo>
                  <a:cubicBezTo>
                    <a:pt x="174849" y="662"/>
                    <a:pt x="173650" y="662"/>
                    <a:pt x="172450" y="662"/>
                  </a:cubicBezTo>
                  <a:cubicBezTo>
                    <a:pt x="170451" y="662"/>
                    <a:pt x="177033" y="-751"/>
                    <a:pt x="178448" y="662"/>
                  </a:cubicBezTo>
                  <a:cubicBezTo>
                    <a:pt x="180696" y="2907"/>
                    <a:pt x="175729" y="6409"/>
                    <a:pt x="174549" y="9359"/>
                  </a:cubicBezTo>
                </a:path>
              </a:pathLst>
            </a:cu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1" name="Google Shape;101;p15"/>
            <p:cNvSpPr/>
            <p:nvPr/>
          </p:nvSpPr>
          <p:spPr>
            <a:xfrm>
              <a:off x="7362850" y="3221950"/>
              <a:ext cx="697200" cy="615600"/>
            </a:xfrm>
            <a:prstGeom prst="rect">
              <a:avLst/>
            </a:prstGeom>
            <a:solidFill>
              <a:srgbClr val="EFEFEF"/>
            </a:solidFill>
            <a:ln cap="flat" cmpd="sng" w="2857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20</a:t>
              </a:r>
              <a:endParaRPr/>
            </a:p>
          </p:txBody>
        </p:sp>
      </p:grpSp>
      <p:sp>
        <p:nvSpPr>
          <p:cNvPr id="102" name="Google Shape;102;p15"/>
          <p:cNvSpPr txBox="1"/>
          <p:nvPr/>
        </p:nvSpPr>
        <p:spPr>
          <a:xfrm>
            <a:off x="4515150" y="862225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1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631975" y="1539475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2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3545325" y="231420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3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699625" y="2871675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4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338313" y="346825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5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6714600" y="409850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6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951600" y="2212188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7</a:t>
            </a:r>
            <a:endParaRPr sz="10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" type="subTitle"/>
          </p:nvPr>
        </p:nvSpPr>
        <p:spPr>
          <a:xfrm>
            <a:off x="311700" y="367375"/>
            <a:ext cx="85206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Pass by “reference” in Java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2275"/>
            <a:ext cx="5604944" cy="39088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/>
          <p:nvPr/>
        </p:nvSpPr>
        <p:spPr>
          <a:xfrm>
            <a:off x="3426500" y="2631725"/>
            <a:ext cx="1057200" cy="592325"/>
          </a:xfrm>
          <a:custGeom>
            <a:rect b="b" l="l" r="r" t="t"/>
            <a:pathLst>
              <a:path extrusionOk="0" h="23693" w="42288">
                <a:moveTo>
                  <a:pt x="0" y="0"/>
                </a:moveTo>
                <a:cubicBezTo>
                  <a:pt x="11233" y="0"/>
                  <a:pt x="23862" y="1988"/>
                  <a:pt x="32391" y="9298"/>
                </a:cubicBezTo>
                <a:cubicBezTo>
                  <a:pt x="35307" y="11797"/>
                  <a:pt x="38959" y="14506"/>
                  <a:pt x="39588" y="18295"/>
                </a:cubicBezTo>
                <a:cubicBezTo>
                  <a:pt x="39883" y="20070"/>
                  <a:pt x="41387" y="23693"/>
                  <a:pt x="39588" y="23693"/>
                </a:cubicBezTo>
                <a:cubicBezTo>
                  <a:pt x="38588" y="23693"/>
                  <a:pt x="36189" y="21894"/>
                  <a:pt x="37189" y="21894"/>
                </a:cubicBezTo>
                <a:cubicBezTo>
                  <a:pt x="38397" y="21894"/>
                  <a:pt x="39634" y="24247"/>
                  <a:pt x="40488" y="23393"/>
                </a:cubicBezTo>
                <a:cubicBezTo>
                  <a:pt x="41630" y="22252"/>
                  <a:pt x="41146" y="20037"/>
                  <a:pt x="42288" y="1889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Google Shape;116;p16"/>
          <p:cNvSpPr/>
          <p:nvPr/>
        </p:nvSpPr>
        <p:spPr>
          <a:xfrm>
            <a:off x="5271407" y="2804175"/>
            <a:ext cx="1349175" cy="541825"/>
          </a:xfrm>
          <a:custGeom>
            <a:rect b="b" l="l" r="r" t="t"/>
            <a:pathLst>
              <a:path extrusionOk="0" h="21673" w="53967">
                <a:moveTo>
                  <a:pt x="53967" y="0"/>
                </a:moveTo>
                <a:cubicBezTo>
                  <a:pt x="48046" y="0"/>
                  <a:pt x="42434" y="2761"/>
                  <a:pt x="36572" y="3599"/>
                </a:cubicBezTo>
                <a:cubicBezTo>
                  <a:pt x="29611" y="4594"/>
                  <a:pt x="22210" y="5383"/>
                  <a:pt x="16178" y="8998"/>
                </a:cubicBezTo>
                <a:cubicBezTo>
                  <a:pt x="12600" y="11142"/>
                  <a:pt x="9324" y="14117"/>
                  <a:pt x="7180" y="17695"/>
                </a:cubicBezTo>
                <a:cubicBezTo>
                  <a:pt x="6396" y="19004"/>
                  <a:pt x="6261" y="21224"/>
                  <a:pt x="4781" y="21594"/>
                </a:cubicBezTo>
                <a:cubicBezTo>
                  <a:pt x="2252" y="22226"/>
                  <a:pt x="3055" y="14172"/>
                  <a:pt x="582" y="14996"/>
                </a:cubicBezTo>
                <a:cubicBezTo>
                  <a:pt x="-1162" y="15577"/>
                  <a:pt x="1736" y="18518"/>
                  <a:pt x="2682" y="20094"/>
                </a:cubicBezTo>
                <a:cubicBezTo>
                  <a:pt x="4379" y="22921"/>
                  <a:pt x="9151" y="18738"/>
                  <a:pt x="12279" y="1769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" name="Google Shape;117;p16"/>
          <p:cNvSpPr/>
          <p:nvPr/>
        </p:nvSpPr>
        <p:spPr>
          <a:xfrm>
            <a:off x="4754875" y="2392550"/>
            <a:ext cx="763525" cy="323099"/>
          </a:xfrm>
          <a:custGeom>
            <a:rect b="b" l="l" r="r" t="t"/>
            <a:pathLst>
              <a:path extrusionOk="0" h="10855" w="30541">
                <a:moveTo>
                  <a:pt x="30541" y="0"/>
                </a:moveTo>
                <a:cubicBezTo>
                  <a:pt x="23315" y="0"/>
                  <a:pt x="16188" y="2552"/>
                  <a:pt x="9547" y="5399"/>
                </a:cubicBezTo>
                <a:cubicBezTo>
                  <a:pt x="6628" y="6650"/>
                  <a:pt x="3989" y="11318"/>
                  <a:pt x="1149" y="9898"/>
                </a:cubicBezTo>
                <a:cubicBezTo>
                  <a:pt x="-27" y="9310"/>
                  <a:pt x="1864" y="5999"/>
                  <a:pt x="549" y="5999"/>
                </a:cubicBezTo>
                <a:cubicBezTo>
                  <a:pt x="-551" y="5999"/>
                  <a:pt x="393" y="8209"/>
                  <a:pt x="549" y="9298"/>
                </a:cubicBezTo>
                <a:cubicBezTo>
                  <a:pt x="947" y="12085"/>
                  <a:pt x="6132" y="10198"/>
                  <a:pt x="8947" y="1019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18" name="Google Shape;118;p16"/>
          <p:cNvGrpSpPr/>
          <p:nvPr/>
        </p:nvGrpSpPr>
        <p:grpSpPr>
          <a:xfrm>
            <a:off x="3321525" y="1185375"/>
            <a:ext cx="5747450" cy="2308900"/>
            <a:chOff x="3321525" y="1185375"/>
            <a:chExt cx="5747450" cy="2308900"/>
          </a:xfrm>
        </p:grpSpPr>
        <p:grpSp>
          <p:nvGrpSpPr>
            <p:cNvPr id="119" name="Google Shape;119;p16"/>
            <p:cNvGrpSpPr/>
            <p:nvPr/>
          </p:nvGrpSpPr>
          <p:grpSpPr>
            <a:xfrm>
              <a:off x="3321525" y="1185375"/>
              <a:ext cx="5747450" cy="2308900"/>
              <a:chOff x="3321525" y="1185375"/>
              <a:chExt cx="5747450" cy="2308900"/>
            </a:xfrm>
          </p:grpSpPr>
          <p:grpSp>
            <p:nvGrpSpPr>
              <p:cNvPr id="120" name="Google Shape;120;p16"/>
              <p:cNvGrpSpPr/>
              <p:nvPr/>
            </p:nvGrpSpPr>
            <p:grpSpPr>
              <a:xfrm>
                <a:off x="7242875" y="1277425"/>
                <a:ext cx="1826100" cy="2216850"/>
                <a:chOff x="7242875" y="1277425"/>
                <a:chExt cx="1826100" cy="2216850"/>
              </a:xfrm>
            </p:grpSpPr>
            <p:grpSp>
              <p:nvGrpSpPr>
                <p:cNvPr id="121" name="Google Shape;121;p16"/>
                <p:cNvGrpSpPr/>
                <p:nvPr/>
              </p:nvGrpSpPr>
              <p:grpSpPr>
                <a:xfrm>
                  <a:off x="7242875" y="1277425"/>
                  <a:ext cx="1826100" cy="2216850"/>
                  <a:chOff x="7152925" y="1267125"/>
                  <a:chExt cx="1826100" cy="2216850"/>
                </a:xfrm>
              </p:grpSpPr>
              <p:sp>
                <p:nvSpPr>
                  <p:cNvPr id="122" name="Google Shape;122;p16"/>
                  <p:cNvSpPr/>
                  <p:nvPr/>
                </p:nvSpPr>
                <p:spPr>
                  <a:xfrm>
                    <a:off x="7152925" y="1739475"/>
                    <a:ext cx="1826100" cy="1744500"/>
                  </a:xfrm>
                  <a:prstGeom prst="flowChartAlternateProcess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16"/>
                  <p:cNvSpPr txBox="1"/>
                  <p:nvPr/>
                </p:nvSpPr>
                <p:spPr>
                  <a:xfrm>
                    <a:off x="7760425" y="1267125"/>
                    <a:ext cx="611100" cy="400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/>
                      <a:t>heap</a:t>
                    </a:r>
                    <a:endParaRPr/>
                  </a:p>
                </p:txBody>
              </p:sp>
            </p:grpSp>
            <p:sp>
              <p:nvSpPr>
                <p:cNvPr id="124" name="Google Shape;124;p16"/>
                <p:cNvSpPr/>
                <p:nvPr/>
              </p:nvSpPr>
              <p:spPr>
                <a:xfrm>
                  <a:off x="7808950" y="2806888"/>
                  <a:ext cx="929700" cy="459600"/>
                </a:xfrm>
                <a:prstGeom prst="flowChartConnector">
                  <a:avLst/>
                </a:prstGeom>
                <a:solidFill>
                  <a:schemeClr val="lt2"/>
                </a:solidFill>
                <a:ln cap="flat" cmpd="sng" w="9525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" name="Google Shape;125;p16"/>
              <p:cNvGrpSpPr/>
              <p:nvPr/>
            </p:nvGrpSpPr>
            <p:grpSpPr>
              <a:xfrm>
                <a:off x="3321525" y="1185375"/>
                <a:ext cx="3954125" cy="1169700"/>
                <a:chOff x="3321525" y="1185375"/>
                <a:chExt cx="3954125" cy="1169700"/>
              </a:xfrm>
            </p:grpSpPr>
            <p:grpSp>
              <p:nvGrpSpPr>
                <p:cNvPr id="126" name="Google Shape;126;p16"/>
                <p:cNvGrpSpPr/>
                <p:nvPr/>
              </p:nvGrpSpPr>
              <p:grpSpPr>
                <a:xfrm>
                  <a:off x="5757350" y="1185375"/>
                  <a:ext cx="1518300" cy="1169700"/>
                  <a:chOff x="5757350" y="1185375"/>
                  <a:chExt cx="1518300" cy="1169700"/>
                </a:xfrm>
              </p:grpSpPr>
              <p:sp>
                <p:nvSpPr>
                  <p:cNvPr id="127" name="Google Shape;127;p16"/>
                  <p:cNvSpPr/>
                  <p:nvPr/>
                </p:nvSpPr>
                <p:spPr>
                  <a:xfrm>
                    <a:off x="5855800" y="1739475"/>
                    <a:ext cx="929700" cy="615600"/>
                  </a:xfrm>
                  <a:prstGeom prst="rect">
                    <a:avLst/>
                  </a:prstGeom>
                  <a:solidFill>
                    <a:srgbClr val="EFEFEF"/>
                  </a:solidFill>
                  <a:ln cap="flat" cmpd="sng" w="28575">
                    <a:solidFill>
                      <a:srgbClr val="38761D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300"/>
                      <a:t>heapAddr</a:t>
                    </a:r>
                    <a:endParaRPr sz="1300"/>
                  </a:p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300"/>
                      <a:t>0xB00B5</a:t>
                    </a:r>
                    <a:endParaRPr sz="1300"/>
                  </a:p>
                </p:txBody>
              </p:sp>
              <p:sp>
                <p:nvSpPr>
                  <p:cNvPr id="128" name="Google Shape;128;p16"/>
                  <p:cNvSpPr txBox="1"/>
                  <p:nvPr/>
                </p:nvSpPr>
                <p:spPr>
                  <a:xfrm>
                    <a:off x="5757350" y="1185375"/>
                    <a:ext cx="1518300" cy="554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/>
                      <a:t>mutant</a:t>
                    </a:r>
                    <a:br>
                      <a:rPr lang="en"/>
                    </a:br>
                    <a:r>
                      <a:rPr lang="en" sz="1000">
                        <a:solidFill>
                          <a:schemeClr val="dk1"/>
                        </a:solidFill>
                      </a:rPr>
                      <a:t>Stack address: 0x07FE</a:t>
                    </a:r>
                    <a:endParaRPr sz="1100"/>
                  </a:p>
                </p:txBody>
              </p:sp>
            </p:grpSp>
            <p:sp>
              <p:nvSpPr>
                <p:cNvPr id="129" name="Google Shape;129;p16"/>
                <p:cNvSpPr/>
                <p:nvPr/>
              </p:nvSpPr>
              <p:spPr>
                <a:xfrm>
                  <a:off x="3321525" y="1619525"/>
                  <a:ext cx="2556925" cy="265800"/>
                </a:xfrm>
                <a:custGeom>
                  <a:rect b="b" l="l" r="r" t="t"/>
                  <a:pathLst>
                    <a:path extrusionOk="0" h="10632" w="102277">
                      <a:moveTo>
                        <a:pt x="0" y="9297"/>
                      </a:moveTo>
                      <a:cubicBezTo>
                        <a:pt x="8700" y="9297"/>
                        <a:pt x="17600" y="11785"/>
                        <a:pt x="26093" y="9897"/>
                      </a:cubicBezTo>
                      <a:cubicBezTo>
                        <a:pt x="42425" y="6266"/>
                        <a:pt x="58847" y="1500"/>
                        <a:pt x="75578" y="1500"/>
                      </a:cubicBezTo>
                      <a:cubicBezTo>
                        <a:pt x="80681" y="1500"/>
                        <a:pt x="86184" y="90"/>
                        <a:pt x="90874" y="2099"/>
                      </a:cubicBezTo>
                      <a:cubicBezTo>
                        <a:pt x="94491" y="3648"/>
                        <a:pt x="97436" y="7498"/>
                        <a:pt x="101371" y="7498"/>
                      </a:cubicBezTo>
                      <a:cubicBezTo>
                        <a:pt x="102277" y="7498"/>
                        <a:pt x="99564" y="7347"/>
                        <a:pt x="98671" y="7198"/>
                      </a:cubicBezTo>
                      <a:cubicBezTo>
                        <a:pt x="97090" y="6934"/>
                        <a:pt x="92271" y="7498"/>
                        <a:pt x="93873" y="7498"/>
                      </a:cubicBezTo>
                      <a:cubicBezTo>
                        <a:pt x="95875" y="7498"/>
                        <a:pt x="98670" y="9399"/>
                        <a:pt x="99871" y="7798"/>
                      </a:cubicBezTo>
                      <a:cubicBezTo>
                        <a:pt x="101431" y="5719"/>
                        <a:pt x="99871" y="2599"/>
                        <a:pt x="99871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130" name="Google Shape;130;p16"/>
              <p:cNvSpPr/>
              <p:nvPr/>
            </p:nvSpPr>
            <p:spPr>
              <a:xfrm>
                <a:off x="6838000" y="2114375"/>
                <a:ext cx="976300" cy="893950"/>
              </a:xfrm>
              <a:custGeom>
                <a:rect b="b" l="l" r="r" t="t"/>
                <a:pathLst>
                  <a:path extrusionOk="0" h="35758" w="39052">
                    <a:moveTo>
                      <a:pt x="0" y="0"/>
                    </a:moveTo>
                    <a:cubicBezTo>
                      <a:pt x="10252" y="0"/>
                      <a:pt x="16507" y="12763"/>
                      <a:pt x="22194" y="21294"/>
                    </a:cubicBezTo>
                    <a:cubicBezTo>
                      <a:pt x="25372" y="26062"/>
                      <a:pt x="29354" y="31179"/>
                      <a:pt x="34790" y="32991"/>
                    </a:cubicBezTo>
                    <a:cubicBezTo>
                      <a:pt x="36108" y="33430"/>
                      <a:pt x="39159" y="33934"/>
                      <a:pt x="38389" y="35090"/>
                    </a:cubicBezTo>
                    <a:cubicBezTo>
                      <a:pt x="37446" y="36504"/>
                      <a:pt x="31592" y="35090"/>
                      <a:pt x="33291" y="35090"/>
                    </a:cubicBezTo>
                    <a:cubicBezTo>
                      <a:pt x="34993" y="35090"/>
                      <a:pt x="36973" y="36334"/>
                      <a:pt x="38389" y="35390"/>
                    </a:cubicBezTo>
                    <a:cubicBezTo>
                      <a:pt x="39803" y="34447"/>
                      <a:pt x="38389" y="31991"/>
                      <a:pt x="38389" y="30292"/>
                    </a:cubicBezTo>
                  </a:path>
                </a:pathLst>
              </a:cu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31" name="Google Shape;131;p16"/>
            <p:cNvSpPr txBox="1"/>
            <p:nvPr/>
          </p:nvSpPr>
          <p:spPr>
            <a:xfrm>
              <a:off x="7975150" y="2544238"/>
              <a:ext cx="76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0xB00B5</a:t>
              </a:r>
              <a:endParaRPr sz="1000"/>
            </a:p>
          </p:txBody>
        </p:sp>
      </p:grpSp>
      <p:sp>
        <p:nvSpPr>
          <p:cNvPr id="132" name="Google Shape;132;p16"/>
          <p:cNvSpPr txBox="1"/>
          <p:nvPr/>
        </p:nvSpPr>
        <p:spPr>
          <a:xfrm>
            <a:off x="7893263" y="3007288"/>
            <a:ext cx="76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</a:t>
            </a:r>
            <a:r>
              <a:rPr lang="en" sz="1000"/>
              <a:t>olverine</a:t>
            </a:r>
            <a:endParaRPr sz="1000"/>
          </a:p>
        </p:txBody>
      </p:sp>
      <p:sp>
        <p:nvSpPr>
          <p:cNvPr id="133" name="Google Shape;133;p16"/>
          <p:cNvSpPr txBox="1"/>
          <p:nvPr/>
        </p:nvSpPr>
        <p:spPr>
          <a:xfrm>
            <a:off x="7893275" y="2804163"/>
            <a:ext cx="76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</a:t>
            </a:r>
            <a:r>
              <a:rPr lang="en" sz="1000"/>
              <a:t>agneto</a:t>
            </a:r>
            <a:endParaRPr sz="1000"/>
          </a:p>
        </p:txBody>
      </p:sp>
      <p:sp>
        <p:nvSpPr>
          <p:cNvPr id="134" name="Google Shape;134;p16"/>
          <p:cNvSpPr/>
          <p:nvPr/>
        </p:nvSpPr>
        <p:spPr>
          <a:xfrm>
            <a:off x="4978398" y="2187417"/>
            <a:ext cx="2799950" cy="899000"/>
          </a:xfrm>
          <a:custGeom>
            <a:rect b="b" l="l" r="r" t="t"/>
            <a:pathLst>
              <a:path extrusionOk="0" h="35960" w="111998">
                <a:moveTo>
                  <a:pt x="111998" y="35413"/>
                </a:moveTo>
                <a:cubicBezTo>
                  <a:pt x="101428" y="37520"/>
                  <a:pt x="90170" y="32807"/>
                  <a:pt x="80528" y="27991"/>
                </a:cubicBezTo>
                <a:cubicBezTo>
                  <a:pt x="75909" y="25684"/>
                  <a:pt x="70005" y="27034"/>
                  <a:pt x="65387" y="24725"/>
                </a:cubicBezTo>
                <a:cubicBezTo>
                  <a:pt x="54520" y="19291"/>
                  <a:pt x="42771" y="15803"/>
                  <a:pt x="31245" y="11959"/>
                </a:cubicBezTo>
                <a:cubicBezTo>
                  <a:pt x="23584" y="9404"/>
                  <a:pt x="16054" y="6162"/>
                  <a:pt x="8088" y="4834"/>
                </a:cubicBezTo>
                <a:cubicBezTo>
                  <a:pt x="5453" y="4395"/>
                  <a:pt x="1268" y="7224"/>
                  <a:pt x="73" y="4834"/>
                </a:cubicBezTo>
                <a:cubicBezTo>
                  <a:pt x="0" y="4688"/>
                  <a:pt x="3719" y="0"/>
                  <a:pt x="3635" y="84"/>
                </a:cubicBezTo>
                <a:cubicBezTo>
                  <a:pt x="2161" y="1562"/>
                  <a:pt x="-407" y="3489"/>
                  <a:pt x="369" y="5427"/>
                </a:cubicBezTo>
                <a:cubicBezTo>
                  <a:pt x="1176" y="7442"/>
                  <a:pt x="4248" y="7413"/>
                  <a:pt x="6307" y="809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" name="Google Shape;135;p16"/>
          <p:cNvSpPr/>
          <p:nvPr/>
        </p:nvSpPr>
        <p:spPr>
          <a:xfrm>
            <a:off x="5267561" y="3306525"/>
            <a:ext cx="2830100" cy="1270825"/>
          </a:xfrm>
          <a:custGeom>
            <a:rect b="b" l="l" r="r" t="t"/>
            <a:pathLst>
              <a:path extrusionOk="0" h="50833" w="113204">
                <a:moveTo>
                  <a:pt x="113204" y="0"/>
                </a:moveTo>
                <a:cubicBezTo>
                  <a:pt x="113204" y="28717"/>
                  <a:pt x="71752" y="54447"/>
                  <a:pt x="43324" y="50386"/>
                </a:cubicBezTo>
                <a:cubicBezTo>
                  <a:pt x="33381" y="48966"/>
                  <a:pt x="22534" y="46091"/>
                  <a:pt x="15432" y="38989"/>
                </a:cubicBezTo>
                <a:cubicBezTo>
                  <a:pt x="11874" y="35431"/>
                  <a:pt x="8555" y="31617"/>
                  <a:pt x="5535" y="27592"/>
                </a:cubicBezTo>
                <a:cubicBezTo>
                  <a:pt x="4070" y="25640"/>
                  <a:pt x="3704" y="22186"/>
                  <a:pt x="1336" y="21594"/>
                </a:cubicBezTo>
                <a:cubicBezTo>
                  <a:pt x="-1193" y="20962"/>
                  <a:pt x="736" y="31999"/>
                  <a:pt x="736" y="29392"/>
                </a:cubicBezTo>
                <a:cubicBezTo>
                  <a:pt x="736" y="26577"/>
                  <a:pt x="375" y="21846"/>
                  <a:pt x="3136" y="21294"/>
                </a:cubicBezTo>
                <a:cubicBezTo>
                  <a:pt x="5339" y="20853"/>
                  <a:pt x="7303" y="22984"/>
                  <a:pt x="9434" y="2369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36" name="Google Shape;136;p16"/>
          <p:cNvGrpSpPr/>
          <p:nvPr/>
        </p:nvGrpSpPr>
        <p:grpSpPr>
          <a:xfrm>
            <a:off x="4527475" y="2940175"/>
            <a:ext cx="3365800" cy="1169700"/>
            <a:chOff x="4527475" y="2940175"/>
            <a:chExt cx="3365800" cy="1169700"/>
          </a:xfrm>
        </p:grpSpPr>
        <p:grpSp>
          <p:nvGrpSpPr>
            <p:cNvPr id="137" name="Google Shape;137;p16"/>
            <p:cNvGrpSpPr/>
            <p:nvPr/>
          </p:nvGrpSpPr>
          <p:grpSpPr>
            <a:xfrm>
              <a:off x="5757350" y="2940175"/>
              <a:ext cx="1518300" cy="1169700"/>
              <a:chOff x="5757350" y="2940175"/>
              <a:chExt cx="1518300" cy="1169700"/>
            </a:xfrm>
          </p:grpSpPr>
          <p:sp>
            <p:nvSpPr>
              <p:cNvPr id="138" name="Google Shape;138;p16"/>
              <p:cNvSpPr/>
              <p:nvPr/>
            </p:nvSpPr>
            <p:spPr>
              <a:xfrm>
                <a:off x="5855800" y="3494275"/>
                <a:ext cx="929700" cy="615600"/>
              </a:xfrm>
              <a:prstGeom prst="rect">
                <a:avLst/>
              </a:prstGeom>
              <a:solidFill>
                <a:srgbClr val="EFEFEF"/>
              </a:solidFill>
              <a:ln cap="flat" cmpd="sng" w="28575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/>
                  <a:t>heapAddr</a:t>
                </a:r>
                <a:br>
                  <a:rPr lang="en" sz="1300"/>
                </a:br>
                <a:r>
                  <a:rPr lang="en" sz="1300">
                    <a:solidFill>
                      <a:schemeClr val="dk1"/>
                    </a:solidFill>
                  </a:rPr>
                  <a:t>0xB00B5</a:t>
                </a:r>
                <a:endParaRPr sz="1300"/>
              </a:p>
            </p:txBody>
          </p:sp>
          <p:sp>
            <p:nvSpPr>
              <p:cNvPr id="139" name="Google Shape;139;p16"/>
              <p:cNvSpPr txBox="1"/>
              <p:nvPr/>
            </p:nvSpPr>
            <p:spPr>
              <a:xfrm>
                <a:off x="5757350" y="2940175"/>
                <a:ext cx="15183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wolverine</a:t>
                </a:r>
                <a:br>
                  <a:rPr lang="en"/>
                </a:br>
                <a:r>
                  <a:rPr lang="en" sz="1000">
                    <a:solidFill>
                      <a:schemeClr val="dk1"/>
                    </a:solidFill>
                  </a:rPr>
                  <a:t>Stack address: 0x07FF</a:t>
                </a:r>
                <a:endParaRPr sz="1100"/>
              </a:p>
            </p:txBody>
          </p:sp>
        </p:grpSp>
        <p:sp>
          <p:nvSpPr>
            <p:cNvPr id="140" name="Google Shape;140;p16"/>
            <p:cNvSpPr/>
            <p:nvPr/>
          </p:nvSpPr>
          <p:spPr>
            <a:xfrm>
              <a:off x="6838000" y="3189601"/>
              <a:ext cx="1055275" cy="551800"/>
            </a:xfrm>
            <a:custGeom>
              <a:rect b="b" l="l" r="r" t="t"/>
              <a:pathLst>
                <a:path extrusionOk="0" h="22072" w="42211">
                  <a:moveTo>
                    <a:pt x="0" y="22072"/>
                  </a:moveTo>
                  <a:cubicBezTo>
                    <a:pt x="10894" y="17991"/>
                    <a:pt x="21384" y="12875"/>
                    <a:pt x="31791" y="7677"/>
                  </a:cubicBezTo>
                  <a:cubicBezTo>
                    <a:pt x="34546" y="6301"/>
                    <a:pt x="36648" y="3863"/>
                    <a:pt x="39289" y="2278"/>
                  </a:cubicBezTo>
                  <a:cubicBezTo>
                    <a:pt x="40079" y="1804"/>
                    <a:pt x="41899" y="1246"/>
                    <a:pt x="41388" y="479"/>
                  </a:cubicBezTo>
                  <a:cubicBezTo>
                    <a:pt x="40494" y="-862"/>
                    <a:pt x="38202" y="1078"/>
                    <a:pt x="36590" y="1078"/>
                  </a:cubicBezTo>
                  <a:cubicBezTo>
                    <a:pt x="34891" y="1078"/>
                    <a:pt x="40486" y="-124"/>
                    <a:pt x="41688" y="1078"/>
                  </a:cubicBezTo>
                  <a:cubicBezTo>
                    <a:pt x="43500" y="2890"/>
                    <a:pt x="39941" y="5897"/>
                    <a:pt x="38989" y="827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1" name="Google Shape;141;p16"/>
            <p:cNvSpPr/>
            <p:nvPr/>
          </p:nvSpPr>
          <p:spPr>
            <a:xfrm>
              <a:off x="4527475" y="3332525"/>
              <a:ext cx="1319500" cy="267175"/>
            </a:xfrm>
            <a:custGeom>
              <a:rect b="b" l="l" r="r" t="t"/>
              <a:pathLst>
                <a:path extrusionOk="0" h="10687" w="52780">
                  <a:moveTo>
                    <a:pt x="0" y="0"/>
                  </a:moveTo>
                  <a:cubicBezTo>
                    <a:pt x="11810" y="2945"/>
                    <a:pt x="23528" y="6670"/>
                    <a:pt x="35626" y="8015"/>
                  </a:cubicBezTo>
                  <a:cubicBezTo>
                    <a:pt x="39365" y="8431"/>
                    <a:pt x="43145" y="8312"/>
                    <a:pt x="46907" y="8312"/>
                  </a:cubicBezTo>
                  <a:cubicBezTo>
                    <a:pt x="48787" y="8312"/>
                    <a:pt x="53878" y="6982"/>
                    <a:pt x="52548" y="8312"/>
                  </a:cubicBezTo>
                  <a:cubicBezTo>
                    <a:pt x="51065" y="9795"/>
                    <a:pt x="44734" y="11327"/>
                    <a:pt x="46610" y="10390"/>
                  </a:cubicBezTo>
                  <a:cubicBezTo>
                    <a:pt x="48458" y="9466"/>
                    <a:pt x="52548" y="10675"/>
                    <a:pt x="52548" y="8609"/>
                  </a:cubicBezTo>
                  <a:cubicBezTo>
                    <a:pt x="52548" y="5945"/>
                    <a:pt x="49869" y="3998"/>
                    <a:pt x="48392" y="178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42" name="Google Shape;142;p16"/>
          <p:cNvSpPr/>
          <p:nvPr/>
        </p:nvSpPr>
        <p:spPr>
          <a:xfrm>
            <a:off x="3629400" y="3614550"/>
            <a:ext cx="2234050" cy="210850"/>
          </a:xfrm>
          <a:custGeom>
            <a:rect b="b" l="l" r="r" t="t"/>
            <a:pathLst>
              <a:path extrusionOk="0" h="8434" w="89362">
                <a:moveTo>
                  <a:pt x="0" y="0"/>
                </a:moveTo>
                <a:cubicBezTo>
                  <a:pt x="24246" y="0"/>
                  <a:pt x="48490" y="594"/>
                  <a:pt x="72736" y="594"/>
                </a:cubicBezTo>
                <a:cubicBezTo>
                  <a:pt x="76304" y="594"/>
                  <a:pt x="79861" y="2177"/>
                  <a:pt x="82830" y="4156"/>
                </a:cubicBezTo>
                <a:cubicBezTo>
                  <a:pt x="84544" y="5298"/>
                  <a:pt x="89936" y="7719"/>
                  <a:pt x="87877" y="7719"/>
                </a:cubicBezTo>
                <a:cubicBezTo>
                  <a:pt x="86149" y="7719"/>
                  <a:pt x="84535" y="6815"/>
                  <a:pt x="82830" y="6532"/>
                </a:cubicBezTo>
                <a:cubicBezTo>
                  <a:pt x="80647" y="6169"/>
                  <a:pt x="89362" y="9932"/>
                  <a:pt x="89362" y="7719"/>
                </a:cubicBezTo>
                <a:cubicBezTo>
                  <a:pt x="89362" y="5358"/>
                  <a:pt x="86812" y="3745"/>
                  <a:pt x="85502" y="178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3" name="Google Shape;143;p16"/>
          <p:cNvSpPr/>
          <p:nvPr/>
        </p:nvSpPr>
        <p:spPr>
          <a:xfrm>
            <a:off x="2939150" y="1957929"/>
            <a:ext cx="2894600" cy="203325"/>
          </a:xfrm>
          <a:custGeom>
            <a:rect b="b" l="l" r="r" t="t"/>
            <a:pathLst>
              <a:path extrusionOk="0" h="8133" w="115784">
                <a:moveTo>
                  <a:pt x="0" y="7482"/>
                </a:moveTo>
                <a:cubicBezTo>
                  <a:pt x="6120" y="9524"/>
                  <a:pt x="12846" y="5998"/>
                  <a:pt x="19297" y="5998"/>
                </a:cubicBezTo>
                <a:cubicBezTo>
                  <a:pt x="38611" y="5998"/>
                  <a:pt x="57875" y="3623"/>
                  <a:pt x="77189" y="3623"/>
                </a:cubicBezTo>
                <a:cubicBezTo>
                  <a:pt x="85799" y="3623"/>
                  <a:pt x="94408" y="3623"/>
                  <a:pt x="103018" y="3623"/>
                </a:cubicBezTo>
                <a:cubicBezTo>
                  <a:pt x="105690" y="3623"/>
                  <a:pt x="108362" y="3623"/>
                  <a:pt x="111034" y="3623"/>
                </a:cubicBezTo>
                <a:cubicBezTo>
                  <a:pt x="112518" y="3623"/>
                  <a:pt x="116537" y="4673"/>
                  <a:pt x="115487" y="3623"/>
                </a:cubicBezTo>
                <a:cubicBezTo>
                  <a:pt x="113538" y="1674"/>
                  <a:pt x="107768" y="3411"/>
                  <a:pt x="107768" y="654"/>
                </a:cubicBezTo>
                <a:cubicBezTo>
                  <a:pt x="107768" y="-1074"/>
                  <a:pt x="111211" y="1199"/>
                  <a:pt x="112815" y="1841"/>
                </a:cubicBezTo>
                <a:cubicBezTo>
                  <a:pt x="113887" y="2270"/>
                  <a:pt x="115784" y="2469"/>
                  <a:pt x="115784" y="3623"/>
                </a:cubicBezTo>
                <a:cubicBezTo>
                  <a:pt x="115784" y="6820"/>
                  <a:pt x="110075" y="7185"/>
                  <a:pt x="106878" y="718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Google Shape;144;p16"/>
          <p:cNvSpPr txBox="1"/>
          <p:nvPr/>
        </p:nvSpPr>
        <p:spPr>
          <a:xfrm>
            <a:off x="4521425" y="137400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1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860800" y="193355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2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4347000" y="1798725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3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068400" y="2023238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4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3505225" y="238710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5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4911625" y="3165825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6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3897000" y="339285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8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361725" y="4268325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9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518400" y="2703250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7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4879150" y="2413713"/>
            <a:ext cx="4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10</a:t>
            </a:r>
            <a:endParaRPr sz="10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idx="1" type="subTitle"/>
          </p:nvPr>
        </p:nvSpPr>
        <p:spPr>
          <a:xfrm>
            <a:off x="311700" y="367400"/>
            <a:ext cx="85206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Pass by “reference” in Java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11700" y="1382263"/>
            <a:ext cx="809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All object references in Java are </a:t>
            </a:r>
            <a:r>
              <a:rPr lang="en" sz="1500" u="sng">
                <a:solidFill>
                  <a:srgbClr val="0000FF"/>
                </a:solidFill>
              </a:rPr>
              <a:t>passed by value</a:t>
            </a:r>
            <a:r>
              <a:rPr lang="en" sz="1500">
                <a:solidFill>
                  <a:schemeClr val="dk1"/>
                </a:solidFill>
              </a:rPr>
              <a:t>. </a:t>
            </a:r>
            <a:endParaRPr sz="1500"/>
          </a:p>
        </p:txBody>
      </p:sp>
      <p:sp>
        <p:nvSpPr>
          <p:cNvPr id="160" name="Google Shape;160;p17"/>
          <p:cNvSpPr txBox="1"/>
          <p:nvPr/>
        </p:nvSpPr>
        <p:spPr>
          <a:xfrm>
            <a:off x="311700" y="1797775"/>
            <a:ext cx="809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This means that a </a:t>
            </a:r>
            <a:r>
              <a:rPr lang="en" sz="1500" u="sng">
                <a:solidFill>
                  <a:srgbClr val="0000FF"/>
                </a:solidFill>
              </a:rPr>
              <a:t>copy</a:t>
            </a:r>
            <a:r>
              <a:rPr lang="en" sz="1500">
                <a:solidFill>
                  <a:schemeClr val="dk1"/>
                </a:solidFill>
              </a:rPr>
              <a:t> of the value will be passed to a method.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11700" y="2213275"/>
            <a:ext cx="809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However, passing a copy of the value also changes the real value of the </a:t>
            </a:r>
            <a:r>
              <a:rPr lang="en" sz="1500" u="sng">
                <a:solidFill>
                  <a:srgbClr val="0000FF"/>
                </a:solidFill>
              </a:rPr>
              <a:t>object</a:t>
            </a:r>
            <a:r>
              <a:rPr lang="en" sz="1500">
                <a:solidFill>
                  <a:schemeClr val="dk1"/>
                </a:solidFill>
              </a:rPr>
              <a:t>...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11700" y="2628775"/>
            <a:ext cx="809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… because the stack holds the </a:t>
            </a:r>
            <a:r>
              <a:rPr lang="en" sz="1500" u="sng">
                <a:solidFill>
                  <a:srgbClr val="0000FF"/>
                </a:solidFill>
              </a:rPr>
              <a:t>memory position</a:t>
            </a:r>
            <a:r>
              <a:rPr lang="en" sz="1500">
                <a:solidFill>
                  <a:schemeClr val="dk1"/>
                </a:solidFill>
              </a:rPr>
              <a:t> (a reference) of the object on the heap.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3333300" y="2029650"/>
            <a:ext cx="2477400" cy="5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Thank you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